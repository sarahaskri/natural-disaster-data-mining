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grandir Tight Heavy" panose="020B0604020202020204" charset="0"/>
      <p:regular r:id="rId25"/>
    </p:embeddedFont>
    <p:embeddedFont>
      <p:font typeface="Aileron" panose="020B0604020202020204" charset="0"/>
      <p:regular r:id="rId26"/>
    </p:embeddedFont>
    <p:embeddedFont>
      <p:font typeface="Aileron Bold" panose="020B0604020202020204" charset="0"/>
      <p:regular r:id="rId27"/>
    </p:embeddedFont>
    <p:embeddedFont>
      <p:font typeface="Aileron Heavy" panose="020B0604020202020204" charset="0"/>
      <p:regular r:id="rId28"/>
    </p:embeddedFont>
    <p:embeddedFont>
      <p:font typeface="Aileron Ultra-Bold" panose="020B0604020202020204" charset="0"/>
      <p:regular r:id="rId29"/>
    </p:embeddedFont>
    <p:embeddedFont>
      <p:font typeface="Akzidenz-Grotesk Heavy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-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7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5759" y="8438483"/>
            <a:ext cx="1544385" cy="154438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948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5201900" cy="2876911"/>
            <a:chOff x="0" y="0"/>
            <a:chExt cx="2355172" cy="4457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55172" cy="445709"/>
            </a:xfrm>
            <a:custGeom>
              <a:avLst/>
              <a:gdLst/>
              <a:ahLst/>
              <a:cxnLst/>
              <a:rect l="l" t="t" r="r" b="b"/>
              <a:pathLst>
                <a:path w="2355172" h="445709">
                  <a:moveTo>
                    <a:pt x="0" y="0"/>
                  </a:moveTo>
                  <a:lnTo>
                    <a:pt x="2355172" y="0"/>
                  </a:lnTo>
                  <a:lnTo>
                    <a:pt x="2355172" y="445709"/>
                  </a:lnTo>
                  <a:lnTo>
                    <a:pt x="0" y="445709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9298" t="-217853" b="-6693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44848" y="0"/>
            <a:ext cx="4617975" cy="6972888"/>
            <a:chOff x="0" y="0"/>
            <a:chExt cx="660400" cy="9971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997168"/>
            </a:xfrm>
            <a:custGeom>
              <a:avLst/>
              <a:gdLst/>
              <a:ahLst/>
              <a:cxnLst/>
              <a:rect l="l" t="t" r="r" b="b"/>
              <a:pathLst>
                <a:path w="660400" h="997168">
                  <a:moveTo>
                    <a:pt x="220252" y="978099"/>
                  </a:moveTo>
                  <a:cubicBezTo>
                    <a:pt x="254109" y="989613"/>
                    <a:pt x="292600" y="997168"/>
                    <a:pt x="330378" y="997168"/>
                  </a:cubicBezTo>
                  <a:cubicBezTo>
                    <a:pt x="368157" y="997168"/>
                    <a:pt x="404509" y="990691"/>
                    <a:pt x="438009" y="979177"/>
                  </a:cubicBezTo>
                  <a:cubicBezTo>
                    <a:pt x="438723" y="978817"/>
                    <a:pt x="439435" y="978817"/>
                    <a:pt x="440148" y="978458"/>
                  </a:cubicBezTo>
                  <a:cubicBezTo>
                    <a:pt x="565955" y="932403"/>
                    <a:pt x="658618" y="810789"/>
                    <a:pt x="660400" y="66457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64077"/>
                  </a:lnTo>
                  <a:cubicBezTo>
                    <a:pt x="1782" y="811508"/>
                    <a:pt x="93019" y="933123"/>
                    <a:pt x="220252" y="978099"/>
                  </a:cubicBezTo>
                  <a:close/>
                </a:path>
              </a:pathLst>
            </a:custGeom>
            <a:blipFill>
              <a:blip r:embed="rId3"/>
              <a:stretch>
                <a:fillRect l="-153240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22124" y="8815323"/>
            <a:ext cx="790703" cy="790703"/>
          </a:xfrm>
          <a:custGeom>
            <a:avLst/>
            <a:gdLst/>
            <a:ahLst/>
            <a:cxnLst/>
            <a:rect l="l" t="t" r="r" b="b"/>
            <a:pathLst>
              <a:path w="790703" h="790703">
                <a:moveTo>
                  <a:pt x="0" y="0"/>
                </a:moveTo>
                <a:lnTo>
                  <a:pt x="790704" y="0"/>
                </a:lnTo>
                <a:lnTo>
                  <a:pt x="790704" y="790704"/>
                </a:lnTo>
                <a:lnTo>
                  <a:pt x="0" y="790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 rot="5400000">
            <a:off x="15274810" y="7212982"/>
            <a:ext cx="3008405" cy="960574"/>
          </a:xfrm>
          <a:custGeom>
            <a:avLst/>
            <a:gdLst/>
            <a:ahLst/>
            <a:cxnLst/>
            <a:rect l="l" t="t" r="r" b="b"/>
            <a:pathLst>
              <a:path w="3008405" h="960574">
                <a:moveTo>
                  <a:pt x="0" y="0"/>
                </a:moveTo>
                <a:lnTo>
                  <a:pt x="3008405" y="0"/>
                </a:lnTo>
                <a:lnTo>
                  <a:pt x="3008405" y="960574"/>
                </a:lnTo>
                <a:lnTo>
                  <a:pt x="0" y="96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 rot="-5400000">
            <a:off x="15463640" y="1976503"/>
            <a:ext cx="3791214" cy="1895607"/>
          </a:xfrm>
          <a:custGeom>
            <a:avLst/>
            <a:gdLst/>
            <a:ahLst/>
            <a:cxnLst/>
            <a:rect l="l" t="t" r="r" b="b"/>
            <a:pathLst>
              <a:path w="3791214" h="1895607">
                <a:moveTo>
                  <a:pt x="0" y="0"/>
                </a:moveTo>
                <a:lnTo>
                  <a:pt x="3791213" y="0"/>
                </a:lnTo>
                <a:lnTo>
                  <a:pt x="3791213" y="1895607"/>
                </a:lnTo>
                <a:lnTo>
                  <a:pt x="0" y="1895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1028700" y="1028700"/>
            <a:ext cx="2655387" cy="847857"/>
          </a:xfrm>
          <a:custGeom>
            <a:avLst/>
            <a:gdLst/>
            <a:ahLst/>
            <a:cxnLst/>
            <a:rect l="l" t="t" r="r" b="b"/>
            <a:pathLst>
              <a:path w="2655387" h="847857">
                <a:moveTo>
                  <a:pt x="0" y="0"/>
                </a:moveTo>
                <a:lnTo>
                  <a:pt x="2655387" y="0"/>
                </a:lnTo>
                <a:lnTo>
                  <a:pt x="2655387" y="847857"/>
                </a:lnTo>
                <a:lnTo>
                  <a:pt x="0" y="847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685800" y="2189855"/>
            <a:ext cx="10849077" cy="661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8012" b="1" dirty="0">
                <a:solidFill>
                  <a:srgbClr val="066150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ANALYSE DES CATASTROPHES NATURELLES : CLUSTERING ET CLASSIFICATION DE LA SÉVÉRITÉ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18695" y="7946645"/>
            <a:ext cx="6440605" cy="104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007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Présenté par :</a:t>
            </a:r>
          </a:p>
          <a:p>
            <a:pPr algn="l">
              <a:lnSpc>
                <a:spcPts val="3910"/>
              </a:lnSpc>
            </a:pPr>
            <a:r>
              <a:rPr lang="en-US" sz="3007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            Sarra Askri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25205" y="9586977"/>
            <a:ext cx="6440605" cy="54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007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Année universitaire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3050" y="8391393"/>
            <a:ext cx="3791214" cy="1895607"/>
          </a:xfrm>
          <a:custGeom>
            <a:avLst/>
            <a:gdLst/>
            <a:ahLst/>
            <a:cxnLst/>
            <a:rect l="l" t="t" r="r" b="b"/>
            <a:pathLst>
              <a:path w="3791214" h="1895607">
                <a:moveTo>
                  <a:pt x="0" y="0"/>
                </a:moveTo>
                <a:lnTo>
                  <a:pt x="3791214" y="0"/>
                </a:lnTo>
                <a:lnTo>
                  <a:pt x="3791214" y="1895607"/>
                </a:lnTo>
                <a:lnTo>
                  <a:pt x="0" y="1895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-239039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06071" y="0"/>
            <a:ext cx="5098053" cy="10287000"/>
            <a:chOff x="0" y="0"/>
            <a:chExt cx="1342697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2697" cy="2709333"/>
            </a:xfrm>
            <a:custGeom>
              <a:avLst/>
              <a:gdLst/>
              <a:ahLst/>
              <a:cxnLst/>
              <a:rect l="l" t="t" r="r" b="b"/>
              <a:pathLst>
                <a:path w="1342697" h="2709333">
                  <a:moveTo>
                    <a:pt x="0" y="0"/>
                  </a:moveTo>
                  <a:lnTo>
                    <a:pt x="1342697" y="0"/>
                  </a:lnTo>
                  <a:lnTo>
                    <a:pt x="13426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342697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24752" y="4223752"/>
            <a:ext cx="6063248" cy="6063248"/>
            <a:chOff x="0" y="0"/>
            <a:chExt cx="3331210" cy="33312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3"/>
              <a:stretch>
                <a:fillRect l="-17114" r="-1711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50895" y="1971424"/>
            <a:ext cx="3008405" cy="960574"/>
          </a:xfrm>
          <a:custGeom>
            <a:avLst/>
            <a:gdLst/>
            <a:ahLst/>
            <a:cxnLst/>
            <a:rect l="l" t="t" r="r" b="b"/>
            <a:pathLst>
              <a:path w="3008405" h="960574">
                <a:moveTo>
                  <a:pt x="0" y="0"/>
                </a:moveTo>
                <a:lnTo>
                  <a:pt x="3008405" y="0"/>
                </a:lnTo>
                <a:lnTo>
                  <a:pt x="3008405" y="960574"/>
                </a:lnTo>
                <a:lnTo>
                  <a:pt x="0" y="96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 rot="-5400000">
            <a:off x="38848" y="6406904"/>
            <a:ext cx="3008405" cy="960574"/>
          </a:xfrm>
          <a:custGeom>
            <a:avLst/>
            <a:gdLst/>
            <a:ahLst/>
            <a:cxnLst/>
            <a:rect l="l" t="t" r="r" b="b"/>
            <a:pathLst>
              <a:path w="3008405" h="960574">
                <a:moveTo>
                  <a:pt x="0" y="0"/>
                </a:moveTo>
                <a:lnTo>
                  <a:pt x="3008404" y="0"/>
                </a:lnTo>
                <a:lnTo>
                  <a:pt x="3008404" y="960574"/>
                </a:lnTo>
                <a:lnTo>
                  <a:pt x="0" y="96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8844981" y="7659247"/>
            <a:ext cx="3171109" cy="2198183"/>
          </a:xfrm>
          <a:custGeom>
            <a:avLst/>
            <a:gdLst/>
            <a:ahLst/>
            <a:cxnLst/>
            <a:rect l="l" t="t" r="r" b="b"/>
            <a:pathLst>
              <a:path w="3171109" h="2198183">
                <a:moveTo>
                  <a:pt x="0" y="0"/>
                </a:moveTo>
                <a:lnTo>
                  <a:pt x="3171109" y="0"/>
                </a:lnTo>
                <a:lnTo>
                  <a:pt x="3171109" y="2198183"/>
                </a:lnTo>
                <a:lnTo>
                  <a:pt x="0" y="2198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3438657" y="1704902"/>
            <a:ext cx="9546416" cy="214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5"/>
              </a:lnSpc>
            </a:pPr>
            <a:r>
              <a:rPr lang="en-US" sz="2468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Les catastrophes naturelles ont des impacts importants sur les populations et les économies. </a:t>
            </a:r>
          </a:p>
          <a:p>
            <a:pPr algn="just">
              <a:lnSpc>
                <a:spcPts val="3455"/>
              </a:lnSpc>
            </a:pPr>
            <a:r>
              <a:rPr lang="en-US" sz="2468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De nombreuses données sont disponibles pour décrire ces événements, mais leur complexité et leur diversité rendent leur exploitation difficile.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38657" y="764923"/>
            <a:ext cx="5406324" cy="88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4875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Contexte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38657" y="4099927"/>
            <a:ext cx="9915717" cy="212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7"/>
              </a:lnSpc>
            </a:pPr>
            <a:r>
              <a:rPr lang="en-US" sz="4175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Comment exploiter les données pour prédire les catastrophes naturelles 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38657" y="6353045"/>
            <a:ext cx="9582763" cy="185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051" lvl="1" indent="-288026" algn="l">
              <a:lnSpc>
                <a:spcPts val="3735"/>
              </a:lnSpc>
              <a:buFont typeface="Arial"/>
              <a:buChar char="•"/>
            </a:pPr>
            <a:r>
              <a:rPr lang="en-US" sz="2668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Analyser ces données.</a:t>
            </a:r>
          </a:p>
          <a:p>
            <a:pPr marL="576051" lvl="1" indent="-288026" algn="l">
              <a:lnSpc>
                <a:spcPts val="3735"/>
              </a:lnSpc>
              <a:buFont typeface="Arial"/>
              <a:buChar char="•"/>
            </a:pPr>
            <a:r>
              <a:rPr lang="en-US" sz="2668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Utiliser des techniques pour regrouper les catastrophes similaires.</a:t>
            </a:r>
          </a:p>
          <a:p>
            <a:pPr marL="576051" lvl="1" indent="-288026" algn="l">
              <a:lnSpc>
                <a:spcPts val="3735"/>
              </a:lnSpc>
              <a:buFont typeface="Arial"/>
              <a:buChar char="•"/>
            </a:pPr>
            <a:r>
              <a:rPr lang="en-US" sz="2668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Prédire leur niveau de sévérité.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4295" y="2650048"/>
            <a:ext cx="5629859" cy="1295152"/>
            <a:chOff x="0" y="0"/>
            <a:chExt cx="1482761" cy="341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2761" cy="341110"/>
            </a:xfrm>
            <a:custGeom>
              <a:avLst/>
              <a:gdLst/>
              <a:ahLst/>
              <a:cxnLst/>
              <a:rect l="l" t="t" r="r" b="b"/>
              <a:pathLst>
                <a:path w="1482761" h="341110">
                  <a:moveTo>
                    <a:pt x="137515" y="0"/>
                  </a:moveTo>
                  <a:lnTo>
                    <a:pt x="1345246" y="0"/>
                  </a:lnTo>
                  <a:cubicBezTo>
                    <a:pt x="1421193" y="0"/>
                    <a:pt x="1482761" y="61568"/>
                    <a:pt x="1482761" y="137515"/>
                  </a:cubicBezTo>
                  <a:lnTo>
                    <a:pt x="1482761" y="203595"/>
                  </a:lnTo>
                  <a:cubicBezTo>
                    <a:pt x="1482761" y="279542"/>
                    <a:pt x="1421193" y="341110"/>
                    <a:pt x="1345246" y="341110"/>
                  </a:cubicBezTo>
                  <a:lnTo>
                    <a:pt x="137515" y="341110"/>
                  </a:lnTo>
                  <a:cubicBezTo>
                    <a:pt x="101044" y="341110"/>
                    <a:pt x="66066" y="326622"/>
                    <a:pt x="40277" y="300833"/>
                  </a:cubicBezTo>
                  <a:cubicBezTo>
                    <a:pt x="14488" y="275044"/>
                    <a:pt x="0" y="240066"/>
                    <a:pt x="0" y="203595"/>
                  </a:cubicBezTo>
                  <a:lnTo>
                    <a:pt x="0" y="137515"/>
                  </a:lnTo>
                  <a:cubicBezTo>
                    <a:pt x="0" y="61568"/>
                    <a:pt x="61568" y="0"/>
                    <a:pt x="137515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82761" cy="39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15630" y="8766346"/>
            <a:ext cx="5629859" cy="1285346"/>
            <a:chOff x="0" y="0"/>
            <a:chExt cx="1482761" cy="338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2761" cy="338527"/>
            </a:xfrm>
            <a:custGeom>
              <a:avLst/>
              <a:gdLst/>
              <a:ahLst/>
              <a:cxnLst/>
              <a:rect l="l" t="t" r="r" b="b"/>
              <a:pathLst>
                <a:path w="1482761" h="338527">
                  <a:moveTo>
                    <a:pt x="137515" y="0"/>
                  </a:moveTo>
                  <a:lnTo>
                    <a:pt x="1345246" y="0"/>
                  </a:lnTo>
                  <a:cubicBezTo>
                    <a:pt x="1421193" y="0"/>
                    <a:pt x="1482761" y="61568"/>
                    <a:pt x="1482761" y="137515"/>
                  </a:cubicBezTo>
                  <a:lnTo>
                    <a:pt x="1482761" y="201012"/>
                  </a:lnTo>
                  <a:cubicBezTo>
                    <a:pt x="1482761" y="276960"/>
                    <a:pt x="1421193" y="338527"/>
                    <a:pt x="1345246" y="338527"/>
                  </a:cubicBezTo>
                  <a:lnTo>
                    <a:pt x="137515" y="338527"/>
                  </a:lnTo>
                  <a:cubicBezTo>
                    <a:pt x="61568" y="338527"/>
                    <a:pt x="0" y="276960"/>
                    <a:pt x="0" y="201012"/>
                  </a:cubicBezTo>
                  <a:lnTo>
                    <a:pt x="0" y="137515"/>
                  </a:lnTo>
                  <a:cubicBezTo>
                    <a:pt x="0" y="61568"/>
                    <a:pt x="61568" y="0"/>
                    <a:pt x="137515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82761" cy="39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25218" y="4685525"/>
            <a:ext cx="5803120" cy="1295152"/>
            <a:chOff x="0" y="0"/>
            <a:chExt cx="1528394" cy="3411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8394" cy="341110"/>
            </a:xfrm>
            <a:custGeom>
              <a:avLst/>
              <a:gdLst/>
              <a:ahLst/>
              <a:cxnLst/>
              <a:rect l="l" t="t" r="r" b="b"/>
              <a:pathLst>
                <a:path w="1528394" h="341110">
                  <a:moveTo>
                    <a:pt x="133410" y="0"/>
                  </a:moveTo>
                  <a:lnTo>
                    <a:pt x="1394984" y="0"/>
                  </a:lnTo>
                  <a:cubicBezTo>
                    <a:pt x="1468664" y="0"/>
                    <a:pt x="1528394" y="59730"/>
                    <a:pt x="1528394" y="133410"/>
                  </a:cubicBezTo>
                  <a:lnTo>
                    <a:pt x="1528394" y="207700"/>
                  </a:lnTo>
                  <a:cubicBezTo>
                    <a:pt x="1528394" y="243083"/>
                    <a:pt x="1514338" y="277016"/>
                    <a:pt x="1489319" y="302035"/>
                  </a:cubicBezTo>
                  <a:cubicBezTo>
                    <a:pt x="1464300" y="327054"/>
                    <a:pt x="1430367" y="341110"/>
                    <a:pt x="1394984" y="341110"/>
                  </a:cubicBezTo>
                  <a:lnTo>
                    <a:pt x="133410" y="341110"/>
                  </a:lnTo>
                  <a:cubicBezTo>
                    <a:pt x="98027" y="341110"/>
                    <a:pt x="64094" y="327054"/>
                    <a:pt x="39075" y="302035"/>
                  </a:cubicBezTo>
                  <a:cubicBezTo>
                    <a:pt x="14056" y="277016"/>
                    <a:pt x="0" y="243083"/>
                    <a:pt x="0" y="207700"/>
                  </a:cubicBezTo>
                  <a:lnTo>
                    <a:pt x="0" y="133410"/>
                  </a:lnTo>
                  <a:cubicBezTo>
                    <a:pt x="0" y="98027"/>
                    <a:pt x="14056" y="64094"/>
                    <a:pt x="39075" y="39075"/>
                  </a:cubicBezTo>
                  <a:cubicBezTo>
                    <a:pt x="64094" y="14056"/>
                    <a:pt x="98027" y="0"/>
                    <a:pt x="13341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28394" cy="39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02667" y="6706278"/>
            <a:ext cx="5820146" cy="1319744"/>
            <a:chOff x="0" y="0"/>
            <a:chExt cx="1532878" cy="3475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2878" cy="347587"/>
            </a:xfrm>
            <a:custGeom>
              <a:avLst/>
              <a:gdLst/>
              <a:ahLst/>
              <a:cxnLst/>
              <a:rect l="l" t="t" r="r" b="b"/>
              <a:pathLst>
                <a:path w="1532878" h="347587">
                  <a:moveTo>
                    <a:pt x="133019" y="0"/>
                  </a:moveTo>
                  <a:lnTo>
                    <a:pt x="1399859" y="0"/>
                  </a:lnTo>
                  <a:cubicBezTo>
                    <a:pt x="1473323" y="0"/>
                    <a:pt x="1532878" y="59555"/>
                    <a:pt x="1532878" y="133019"/>
                  </a:cubicBezTo>
                  <a:lnTo>
                    <a:pt x="1532878" y="214567"/>
                  </a:lnTo>
                  <a:cubicBezTo>
                    <a:pt x="1532878" y="249846"/>
                    <a:pt x="1518863" y="283680"/>
                    <a:pt x="1493917" y="308626"/>
                  </a:cubicBezTo>
                  <a:cubicBezTo>
                    <a:pt x="1468971" y="333572"/>
                    <a:pt x="1435137" y="347587"/>
                    <a:pt x="1399859" y="347587"/>
                  </a:cubicBezTo>
                  <a:lnTo>
                    <a:pt x="133019" y="347587"/>
                  </a:lnTo>
                  <a:cubicBezTo>
                    <a:pt x="59555" y="347587"/>
                    <a:pt x="0" y="288032"/>
                    <a:pt x="0" y="214567"/>
                  </a:cubicBezTo>
                  <a:lnTo>
                    <a:pt x="0" y="133019"/>
                  </a:lnTo>
                  <a:cubicBezTo>
                    <a:pt x="0" y="59555"/>
                    <a:pt x="59555" y="0"/>
                    <a:pt x="133019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32878" cy="40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V="1">
            <a:off x="11584466" y="0"/>
            <a:ext cx="3791214" cy="1895607"/>
          </a:xfrm>
          <a:custGeom>
            <a:avLst/>
            <a:gdLst/>
            <a:ahLst/>
            <a:cxnLst/>
            <a:rect l="l" t="t" r="r" b="b"/>
            <a:pathLst>
              <a:path w="3791214" h="1895607">
                <a:moveTo>
                  <a:pt x="0" y="1895607"/>
                </a:moveTo>
                <a:lnTo>
                  <a:pt x="3791214" y="1895607"/>
                </a:lnTo>
                <a:lnTo>
                  <a:pt x="3791214" y="0"/>
                </a:lnTo>
                <a:lnTo>
                  <a:pt x="0" y="0"/>
                </a:lnTo>
                <a:lnTo>
                  <a:pt x="0" y="1895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5" name="Group 15"/>
          <p:cNvGrpSpPr/>
          <p:nvPr/>
        </p:nvGrpSpPr>
        <p:grpSpPr>
          <a:xfrm>
            <a:off x="14414962" y="-392771"/>
            <a:ext cx="3767241" cy="7380790"/>
            <a:chOff x="0" y="0"/>
            <a:chExt cx="583644" cy="11434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3644" cy="1143477"/>
            </a:xfrm>
            <a:custGeom>
              <a:avLst/>
              <a:gdLst/>
              <a:ahLst/>
              <a:cxnLst/>
              <a:rect l="l" t="t" r="r" b="b"/>
              <a:pathLst>
                <a:path w="583644" h="1143477">
                  <a:moveTo>
                    <a:pt x="47266" y="0"/>
                  </a:moveTo>
                  <a:lnTo>
                    <a:pt x="536378" y="0"/>
                  </a:lnTo>
                  <a:cubicBezTo>
                    <a:pt x="562482" y="0"/>
                    <a:pt x="583644" y="21162"/>
                    <a:pt x="583644" y="47266"/>
                  </a:cubicBezTo>
                  <a:lnTo>
                    <a:pt x="583644" y="1096211"/>
                  </a:lnTo>
                  <a:cubicBezTo>
                    <a:pt x="583644" y="1122316"/>
                    <a:pt x="562482" y="1143477"/>
                    <a:pt x="536378" y="1143477"/>
                  </a:cubicBezTo>
                  <a:lnTo>
                    <a:pt x="47266" y="1143477"/>
                  </a:lnTo>
                  <a:cubicBezTo>
                    <a:pt x="21162" y="1143477"/>
                    <a:pt x="0" y="1122316"/>
                    <a:pt x="0" y="1096211"/>
                  </a:cubicBezTo>
                  <a:lnTo>
                    <a:pt x="0" y="47266"/>
                  </a:lnTo>
                  <a:cubicBezTo>
                    <a:pt x="0" y="21162"/>
                    <a:pt x="21162" y="0"/>
                    <a:pt x="47266" y="0"/>
                  </a:cubicBezTo>
                  <a:close/>
                </a:path>
              </a:pathLst>
            </a:custGeom>
            <a:blipFill>
              <a:blip r:embed="rId3"/>
              <a:stretch>
                <a:fillRect l="-12074" r="-183097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8316055"/>
            <a:ext cx="3008405" cy="960574"/>
          </a:xfrm>
          <a:custGeom>
            <a:avLst/>
            <a:gdLst/>
            <a:ahLst/>
            <a:cxnLst/>
            <a:rect l="l" t="t" r="r" b="b"/>
            <a:pathLst>
              <a:path w="3008405" h="960574">
                <a:moveTo>
                  <a:pt x="0" y="0"/>
                </a:moveTo>
                <a:lnTo>
                  <a:pt x="3008405" y="0"/>
                </a:lnTo>
                <a:lnTo>
                  <a:pt x="3008405" y="960574"/>
                </a:lnTo>
                <a:lnTo>
                  <a:pt x="0" y="96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Freeform 18"/>
          <p:cNvSpPr/>
          <p:nvPr/>
        </p:nvSpPr>
        <p:spPr>
          <a:xfrm>
            <a:off x="3007766" y="3935675"/>
            <a:ext cx="1242587" cy="759375"/>
          </a:xfrm>
          <a:custGeom>
            <a:avLst/>
            <a:gdLst/>
            <a:ahLst/>
            <a:cxnLst/>
            <a:rect l="l" t="t" r="r" b="b"/>
            <a:pathLst>
              <a:path w="1242587" h="759375">
                <a:moveTo>
                  <a:pt x="0" y="0"/>
                </a:moveTo>
                <a:lnTo>
                  <a:pt x="1242587" y="0"/>
                </a:lnTo>
                <a:lnTo>
                  <a:pt x="1242587" y="759375"/>
                </a:lnTo>
                <a:lnTo>
                  <a:pt x="0" y="759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618636"/>
            <a:ext cx="8115300" cy="106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44"/>
              </a:lnSpc>
            </a:pPr>
            <a:r>
              <a:rPr lang="en-US" sz="64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Challenges :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6337" y="1764344"/>
            <a:ext cx="11615634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La mise en œuvre de ce projet présente plusieurs défis importants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05435" y="8908015"/>
            <a:ext cx="505024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5FFFD"/>
                </a:solidFill>
                <a:latin typeface="Aileron Bold"/>
                <a:ea typeface="Aileron Bold"/>
                <a:cs typeface="Aileron Bold"/>
                <a:sym typeface="Aileron Bold"/>
              </a:rPr>
              <a:t>La détermination des bons paramètres pour le clustering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60844" y="3054420"/>
            <a:ext cx="3942084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F5FFFD"/>
                </a:solidFill>
                <a:latin typeface="Aileron Bold"/>
                <a:ea typeface="Aileron Bold"/>
                <a:cs typeface="Aileron Bold"/>
                <a:sym typeface="Aileron Bold"/>
              </a:rPr>
              <a:t>La qualité des données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45858" y="4851772"/>
            <a:ext cx="5247583" cy="92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2"/>
              </a:lnSpc>
              <a:spcBef>
                <a:spcPct val="0"/>
              </a:spcBef>
            </a:pPr>
            <a:r>
              <a:rPr lang="en-US" sz="2651" b="1">
                <a:solidFill>
                  <a:srgbClr val="F5FFFD"/>
                </a:solidFill>
                <a:latin typeface="Aileron Bold"/>
                <a:ea typeface="Aileron Bold"/>
                <a:cs typeface="Aileron Bold"/>
                <a:sym typeface="Aileron Bold"/>
              </a:rPr>
              <a:t> Le choix des variables pertinentes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94154" y="6683526"/>
            <a:ext cx="5854198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5FFFD"/>
                </a:solidFill>
                <a:latin typeface="Aileron Bold"/>
                <a:ea typeface="Aileron Bold"/>
                <a:cs typeface="Aileron Bold"/>
                <a:sym typeface="Aileron Bold"/>
              </a:rPr>
              <a:t> La construction d’un modèle de classification performant sans surapprentissage.</a:t>
            </a:r>
          </a:p>
        </p:txBody>
      </p:sp>
      <p:sp>
        <p:nvSpPr>
          <p:cNvPr id="25" name="Freeform 25"/>
          <p:cNvSpPr/>
          <p:nvPr/>
        </p:nvSpPr>
        <p:spPr>
          <a:xfrm>
            <a:off x="6824048" y="5952726"/>
            <a:ext cx="1242587" cy="759375"/>
          </a:xfrm>
          <a:custGeom>
            <a:avLst/>
            <a:gdLst/>
            <a:ahLst/>
            <a:cxnLst/>
            <a:rect l="l" t="t" r="r" b="b"/>
            <a:pathLst>
              <a:path w="1242587" h="759375">
                <a:moveTo>
                  <a:pt x="0" y="0"/>
                </a:moveTo>
                <a:lnTo>
                  <a:pt x="1242587" y="0"/>
                </a:lnTo>
                <a:lnTo>
                  <a:pt x="1242587" y="759375"/>
                </a:lnTo>
                <a:lnTo>
                  <a:pt x="0" y="759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10963172" y="8016497"/>
            <a:ext cx="1242587" cy="759375"/>
          </a:xfrm>
          <a:custGeom>
            <a:avLst/>
            <a:gdLst/>
            <a:ahLst/>
            <a:cxnLst/>
            <a:rect l="l" t="t" r="r" b="b"/>
            <a:pathLst>
              <a:path w="1242587" h="759375">
                <a:moveTo>
                  <a:pt x="0" y="0"/>
                </a:moveTo>
                <a:lnTo>
                  <a:pt x="1242587" y="0"/>
                </a:lnTo>
                <a:lnTo>
                  <a:pt x="1242587" y="759374"/>
                </a:lnTo>
                <a:lnTo>
                  <a:pt x="0" y="759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19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80419" y="2947913"/>
            <a:ext cx="1021661" cy="1021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80419" y="5554053"/>
            <a:ext cx="1021661" cy="10216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92707" y="2953941"/>
            <a:ext cx="1021661" cy="10216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92707" y="5554053"/>
            <a:ext cx="1021661" cy="10216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165651" y="3171994"/>
            <a:ext cx="651197" cy="585556"/>
          </a:xfrm>
          <a:custGeom>
            <a:avLst/>
            <a:gdLst/>
            <a:ahLst/>
            <a:cxnLst/>
            <a:rect l="l" t="t" r="r" b="b"/>
            <a:pathLst>
              <a:path w="651197" h="585556">
                <a:moveTo>
                  <a:pt x="0" y="0"/>
                </a:moveTo>
                <a:lnTo>
                  <a:pt x="651197" y="0"/>
                </a:lnTo>
                <a:lnTo>
                  <a:pt x="651197" y="585556"/>
                </a:lnTo>
                <a:lnTo>
                  <a:pt x="0" y="585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10254918" y="3217357"/>
            <a:ext cx="497239" cy="482774"/>
          </a:xfrm>
          <a:custGeom>
            <a:avLst/>
            <a:gdLst/>
            <a:ahLst/>
            <a:cxnLst/>
            <a:rect l="l" t="t" r="r" b="b"/>
            <a:pathLst>
              <a:path w="497239" h="482774">
                <a:moveTo>
                  <a:pt x="0" y="0"/>
                </a:moveTo>
                <a:lnTo>
                  <a:pt x="497239" y="0"/>
                </a:lnTo>
                <a:lnTo>
                  <a:pt x="497239" y="482774"/>
                </a:lnTo>
                <a:lnTo>
                  <a:pt x="0" y="482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>
            <a:off x="10189136" y="5855092"/>
            <a:ext cx="628803" cy="419583"/>
          </a:xfrm>
          <a:custGeom>
            <a:avLst/>
            <a:gdLst/>
            <a:ahLst/>
            <a:cxnLst/>
            <a:rect l="l" t="t" r="r" b="b"/>
            <a:pathLst>
              <a:path w="628803" h="419583">
                <a:moveTo>
                  <a:pt x="0" y="0"/>
                </a:moveTo>
                <a:lnTo>
                  <a:pt x="628803" y="0"/>
                </a:lnTo>
                <a:lnTo>
                  <a:pt x="628803" y="419583"/>
                </a:lnTo>
                <a:lnTo>
                  <a:pt x="0" y="419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/>
          <p:nvPr/>
        </p:nvSpPr>
        <p:spPr>
          <a:xfrm>
            <a:off x="3326616" y="5829693"/>
            <a:ext cx="329267" cy="470381"/>
          </a:xfrm>
          <a:custGeom>
            <a:avLst/>
            <a:gdLst/>
            <a:ahLst/>
            <a:cxnLst/>
            <a:rect l="l" t="t" r="r" b="b"/>
            <a:pathLst>
              <a:path w="329267" h="470381">
                <a:moveTo>
                  <a:pt x="0" y="0"/>
                </a:moveTo>
                <a:lnTo>
                  <a:pt x="329267" y="0"/>
                </a:lnTo>
                <a:lnTo>
                  <a:pt x="329267" y="470381"/>
                </a:lnTo>
                <a:lnTo>
                  <a:pt x="0" y="470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18" name="Group 18"/>
          <p:cNvGrpSpPr/>
          <p:nvPr/>
        </p:nvGrpSpPr>
        <p:grpSpPr>
          <a:xfrm>
            <a:off x="10958883" y="-419099"/>
            <a:ext cx="7481517" cy="3048000"/>
            <a:chOff x="0" y="0"/>
            <a:chExt cx="1253131" cy="444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3131" cy="444176"/>
            </a:xfrm>
            <a:custGeom>
              <a:avLst/>
              <a:gdLst/>
              <a:ahLst/>
              <a:cxnLst/>
              <a:rect l="l" t="t" r="r" b="b"/>
              <a:pathLst>
                <a:path w="1253131" h="444176">
                  <a:moveTo>
                    <a:pt x="22014" y="0"/>
                  </a:moveTo>
                  <a:lnTo>
                    <a:pt x="1231116" y="0"/>
                  </a:lnTo>
                  <a:cubicBezTo>
                    <a:pt x="1243274" y="0"/>
                    <a:pt x="1253131" y="9856"/>
                    <a:pt x="1253131" y="22014"/>
                  </a:cubicBezTo>
                  <a:lnTo>
                    <a:pt x="1253131" y="422162"/>
                  </a:lnTo>
                  <a:cubicBezTo>
                    <a:pt x="1253131" y="428000"/>
                    <a:pt x="1250811" y="433600"/>
                    <a:pt x="1246683" y="437728"/>
                  </a:cubicBezTo>
                  <a:cubicBezTo>
                    <a:pt x="1242554" y="441857"/>
                    <a:pt x="1236955" y="444176"/>
                    <a:pt x="1231116" y="444176"/>
                  </a:cubicBezTo>
                  <a:lnTo>
                    <a:pt x="22014" y="444176"/>
                  </a:lnTo>
                  <a:cubicBezTo>
                    <a:pt x="9856" y="444176"/>
                    <a:pt x="0" y="434320"/>
                    <a:pt x="0" y="422162"/>
                  </a:cubicBezTo>
                  <a:lnTo>
                    <a:pt x="0" y="22014"/>
                  </a:lnTo>
                  <a:cubicBezTo>
                    <a:pt x="0" y="9856"/>
                    <a:pt x="9856" y="0"/>
                    <a:pt x="22014" y="0"/>
                  </a:cubicBezTo>
                  <a:close/>
                </a:path>
              </a:pathLst>
            </a:custGeom>
            <a:blipFill>
              <a:blip r:embed="rId6"/>
              <a:stretch>
                <a:fillRect t="-107492" r="-17175" b="-12757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-41883" y="5578493"/>
            <a:ext cx="3145523" cy="1004356"/>
          </a:xfrm>
          <a:custGeom>
            <a:avLst/>
            <a:gdLst/>
            <a:ahLst/>
            <a:cxnLst/>
            <a:rect l="l" t="t" r="r" b="b"/>
            <a:pathLst>
              <a:path w="3145523" h="1004356">
                <a:moveTo>
                  <a:pt x="0" y="0"/>
                </a:moveTo>
                <a:lnTo>
                  <a:pt x="3145522" y="0"/>
                </a:lnTo>
                <a:lnTo>
                  <a:pt x="3145522" y="1004356"/>
                </a:lnTo>
                <a:lnTo>
                  <a:pt x="0" y="100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-1758158" y="8391393"/>
            <a:ext cx="3791214" cy="1895607"/>
          </a:xfrm>
          <a:custGeom>
            <a:avLst/>
            <a:gdLst/>
            <a:ahLst/>
            <a:cxnLst/>
            <a:rect l="l" t="t" r="r" b="b"/>
            <a:pathLst>
              <a:path w="3791214" h="1895607">
                <a:moveTo>
                  <a:pt x="0" y="0"/>
                </a:moveTo>
                <a:lnTo>
                  <a:pt x="3791214" y="0"/>
                </a:lnTo>
                <a:lnTo>
                  <a:pt x="3791214" y="1895607"/>
                </a:lnTo>
                <a:lnTo>
                  <a:pt x="0" y="1895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2" name="Group 22"/>
          <p:cNvGrpSpPr/>
          <p:nvPr/>
        </p:nvGrpSpPr>
        <p:grpSpPr>
          <a:xfrm>
            <a:off x="6340601" y="8167848"/>
            <a:ext cx="1021661" cy="102166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6513024" y="8301565"/>
            <a:ext cx="737470" cy="732107"/>
          </a:xfrm>
          <a:custGeom>
            <a:avLst/>
            <a:gdLst/>
            <a:ahLst/>
            <a:cxnLst/>
            <a:rect l="l" t="t" r="r" b="b"/>
            <a:pathLst>
              <a:path w="737470" h="732107">
                <a:moveTo>
                  <a:pt x="0" y="0"/>
                </a:moveTo>
                <a:lnTo>
                  <a:pt x="737470" y="0"/>
                </a:lnTo>
                <a:lnTo>
                  <a:pt x="737470" y="732106"/>
                </a:lnTo>
                <a:lnTo>
                  <a:pt x="0" y="732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672408" y="522351"/>
            <a:ext cx="8115300" cy="93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Objectifs 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58752" y="2896791"/>
            <a:ext cx="4232404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C3635"/>
                </a:solidFill>
                <a:latin typeface="Aileron Heavy"/>
                <a:ea typeface="Aileron Heavy"/>
                <a:cs typeface="Aileron Heavy"/>
                <a:sym typeface="Aileron Heavy"/>
              </a:rPr>
              <a:t>I- Préparation des données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58752" y="5496903"/>
            <a:ext cx="3152029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C3635"/>
                </a:solidFill>
                <a:latin typeface="Aileron Heavy"/>
                <a:ea typeface="Aileron Heavy"/>
                <a:cs typeface="Aileron Heavy"/>
                <a:sym typeface="Aileron Heavy"/>
              </a:rPr>
              <a:t>III- Application du clustering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76318" y="2896791"/>
            <a:ext cx="5554172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C3635"/>
                </a:solidFill>
                <a:latin typeface="Aileron Heavy"/>
                <a:ea typeface="Aileron Heavy"/>
                <a:cs typeface="Aileron Heavy"/>
                <a:sym typeface="Aileron Heavy"/>
              </a:rPr>
              <a:t>II- Analyse exploratoire des données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76318" y="5496903"/>
            <a:ext cx="3842234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C3635"/>
                </a:solidFill>
                <a:latin typeface="Aileron Heavy"/>
                <a:ea typeface="Aileron Heavy"/>
                <a:cs typeface="Aileron Heavy"/>
                <a:sym typeface="Aileron Heavy"/>
              </a:rPr>
              <a:t>IV- Mise en place de la classification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70861" y="3835745"/>
            <a:ext cx="5821846" cy="110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Nettoyage des données, gestion des valeurs manquantes, suppression des doublons et traitement des valeurs aberrantes.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58752" y="6652403"/>
            <a:ext cx="5286577" cy="110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Utilisation de l’algorithme KMeans pour regrouper les catastrophes similaires et analyser les clusters obtenus.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6318" y="3776265"/>
            <a:ext cx="4946285" cy="110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Étude de la distribution des variables et compréhension des caractéristiques principales des données.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76318" y="6652403"/>
            <a:ext cx="6305738" cy="148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Construction et comparaison de plusieurs modèles de classification (Logistic Regression, Decision Tree, Random Forest, Gradient Boosting) en utilisant plusieurs splits des données.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24212" y="8110698"/>
            <a:ext cx="3842234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C3635"/>
                </a:solidFill>
                <a:latin typeface="Aileron Heavy"/>
                <a:ea typeface="Aileron Heavy"/>
                <a:cs typeface="Aileron Heavy"/>
                <a:sym typeface="Aileron Heavy"/>
              </a:rPr>
              <a:t>V- Évaluation des modèles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89533" y="9054307"/>
            <a:ext cx="6125248" cy="110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Analyse des performances à l’aide de métriques (Accuracy, F1-score) et sélection du meilleur modèle.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89352" y="7835739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9" y="0"/>
                </a:lnTo>
                <a:lnTo>
                  <a:pt x="4867569" y="2433785"/>
                </a:lnTo>
                <a:lnTo>
                  <a:pt x="0" y="2433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645468" y="7951"/>
            <a:ext cx="6771323" cy="10279049"/>
          </a:xfrm>
          <a:custGeom>
            <a:avLst/>
            <a:gdLst/>
            <a:ahLst/>
            <a:cxnLst/>
            <a:rect l="l" t="t" r="r" b="b"/>
            <a:pathLst>
              <a:path w="6771323" h="10279049">
                <a:moveTo>
                  <a:pt x="0" y="0"/>
                </a:moveTo>
                <a:lnTo>
                  <a:pt x="6771324" y="0"/>
                </a:lnTo>
                <a:lnTo>
                  <a:pt x="6771324" y="10279049"/>
                </a:lnTo>
                <a:lnTo>
                  <a:pt x="0" y="10279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-1189302" y="497205"/>
            <a:ext cx="8023472" cy="93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Flowchart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4433" y="2162732"/>
            <a:ext cx="9508779" cy="5527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 flowchart présente les étapes de notre approche, depuis la préparation des données jusqu’à la sélection du meilleur modèle, en passant par :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sz="250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Prétraitement et transformation des données</a:t>
            </a: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Analyse exploratoire des variables</a:t>
            </a: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Clustering avec KMeans (choix du meilleur k)</a:t>
            </a: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Classification avec plusieurs modèles et plusieurs splits</a:t>
            </a: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Évaluation des performances et sélection du meilleur modèle</a:t>
            </a:r>
          </a:p>
          <a:p>
            <a:pPr marL="539764" lvl="1" indent="-269882" algn="l">
              <a:lnSpc>
                <a:spcPts val="515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Analyse finale à l’aide de la matrice de confusion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5906" y="2170914"/>
            <a:ext cx="3729985" cy="1600986"/>
            <a:chOff x="0" y="0"/>
            <a:chExt cx="982383" cy="421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2383" cy="421659"/>
            </a:xfrm>
            <a:custGeom>
              <a:avLst/>
              <a:gdLst/>
              <a:ahLst/>
              <a:cxnLst/>
              <a:rect l="l" t="t" r="r" b="b"/>
              <a:pathLst>
                <a:path w="982383" h="421659">
                  <a:moveTo>
                    <a:pt x="41512" y="0"/>
                  </a:moveTo>
                  <a:lnTo>
                    <a:pt x="940871" y="0"/>
                  </a:lnTo>
                  <a:cubicBezTo>
                    <a:pt x="963797" y="0"/>
                    <a:pt x="982383" y="18585"/>
                    <a:pt x="982383" y="41512"/>
                  </a:cubicBezTo>
                  <a:lnTo>
                    <a:pt x="982383" y="380147"/>
                  </a:lnTo>
                  <a:cubicBezTo>
                    <a:pt x="982383" y="403073"/>
                    <a:pt x="963797" y="421659"/>
                    <a:pt x="940871" y="421659"/>
                  </a:cubicBezTo>
                  <a:lnTo>
                    <a:pt x="41512" y="421659"/>
                  </a:lnTo>
                  <a:cubicBezTo>
                    <a:pt x="18585" y="421659"/>
                    <a:pt x="0" y="403073"/>
                    <a:pt x="0" y="380147"/>
                  </a:cubicBezTo>
                  <a:lnTo>
                    <a:pt x="0" y="41512"/>
                  </a:lnTo>
                  <a:cubicBezTo>
                    <a:pt x="0" y="18585"/>
                    <a:pt x="18585" y="0"/>
                    <a:pt x="41512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2383" cy="47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17014" y="2627043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9" y="0"/>
                </a:lnTo>
                <a:lnTo>
                  <a:pt x="688729" y="688728"/>
                </a:lnTo>
                <a:lnTo>
                  <a:pt x="0" y="688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15770545" y="-352982"/>
            <a:ext cx="3665472" cy="1170374"/>
          </a:xfrm>
          <a:custGeom>
            <a:avLst/>
            <a:gdLst/>
            <a:ahLst/>
            <a:cxnLst/>
            <a:rect l="l" t="t" r="r" b="b"/>
            <a:pathLst>
              <a:path w="3665472" h="1170374">
                <a:moveTo>
                  <a:pt x="0" y="0"/>
                </a:moveTo>
                <a:lnTo>
                  <a:pt x="3665472" y="0"/>
                </a:lnTo>
                <a:lnTo>
                  <a:pt x="3665472" y="1170374"/>
                </a:lnTo>
                <a:lnTo>
                  <a:pt x="0" y="1170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8124402" y="9258300"/>
            <a:ext cx="8376238" cy="757321"/>
            <a:chOff x="0" y="0"/>
            <a:chExt cx="2206087" cy="1994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6087" cy="199459"/>
            </a:xfrm>
            <a:custGeom>
              <a:avLst/>
              <a:gdLst/>
              <a:ahLst/>
              <a:cxnLst/>
              <a:rect l="l" t="t" r="r" b="b"/>
              <a:pathLst>
                <a:path w="2206087" h="199459">
                  <a:moveTo>
                    <a:pt x="92427" y="0"/>
                  </a:moveTo>
                  <a:lnTo>
                    <a:pt x="2113660" y="0"/>
                  </a:lnTo>
                  <a:cubicBezTo>
                    <a:pt x="2138174" y="0"/>
                    <a:pt x="2161683" y="9738"/>
                    <a:pt x="2179016" y="27071"/>
                  </a:cubicBezTo>
                  <a:cubicBezTo>
                    <a:pt x="2196350" y="44405"/>
                    <a:pt x="2206087" y="67914"/>
                    <a:pt x="2206087" y="92427"/>
                  </a:cubicBezTo>
                  <a:lnTo>
                    <a:pt x="2206087" y="107032"/>
                  </a:lnTo>
                  <a:cubicBezTo>
                    <a:pt x="2206087" y="131545"/>
                    <a:pt x="2196350" y="155054"/>
                    <a:pt x="2179016" y="172388"/>
                  </a:cubicBezTo>
                  <a:cubicBezTo>
                    <a:pt x="2161683" y="189721"/>
                    <a:pt x="2138174" y="199459"/>
                    <a:pt x="2113660" y="199459"/>
                  </a:cubicBezTo>
                  <a:lnTo>
                    <a:pt x="92427" y="199459"/>
                  </a:lnTo>
                  <a:cubicBezTo>
                    <a:pt x="67914" y="199459"/>
                    <a:pt x="44405" y="189721"/>
                    <a:pt x="27071" y="172388"/>
                  </a:cubicBezTo>
                  <a:cubicBezTo>
                    <a:pt x="9738" y="155054"/>
                    <a:pt x="0" y="131545"/>
                    <a:pt x="0" y="107032"/>
                  </a:cubicBezTo>
                  <a:lnTo>
                    <a:pt x="0" y="92427"/>
                  </a:lnTo>
                  <a:cubicBezTo>
                    <a:pt x="0" y="67914"/>
                    <a:pt x="9738" y="44405"/>
                    <a:pt x="27071" y="27071"/>
                  </a:cubicBezTo>
                  <a:cubicBezTo>
                    <a:pt x="44405" y="9738"/>
                    <a:pt x="67914" y="0"/>
                    <a:pt x="9242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06087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54216" y="7853216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8" y="0"/>
                </a:lnTo>
                <a:lnTo>
                  <a:pt x="4867568" y="2433784"/>
                </a:lnTo>
                <a:lnTo>
                  <a:pt x="0" y="243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028700" y="7338199"/>
            <a:ext cx="10481528" cy="1335699"/>
          </a:xfrm>
          <a:custGeom>
            <a:avLst/>
            <a:gdLst/>
            <a:ahLst/>
            <a:cxnLst/>
            <a:rect l="l" t="t" r="r" b="b"/>
            <a:pathLst>
              <a:path w="10481528" h="1335699">
                <a:moveTo>
                  <a:pt x="0" y="0"/>
                </a:moveTo>
                <a:lnTo>
                  <a:pt x="10481528" y="0"/>
                </a:lnTo>
                <a:lnTo>
                  <a:pt x="10481528" y="1335700"/>
                </a:lnTo>
                <a:lnTo>
                  <a:pt x="0" y="1335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5860952" y="3631177"/>
            <a:ext cx="11433978" cy="3024647"/>
          </a:xfrm>
          <a:custGeom>
            <a:avLst/>
            <a:gdLst/>
            <a:ahLst/>
            <a:cxnLst/>
            <a:rect l="l" t="t" r="r" b="b"/>
            <a:pathLst>
              <a:path w="11433978" h="3024647">
                <a:moveTo>
                  <a:pt x="0" y="0"/>
                </a:moveTo>
                <a:lnTo>
                  <a:pt x="11433978" y="0"/>
                </a:lnTo>
                <a:lnTo>
                  <a:pt x="11433978" y="3024646"/>
                </a:lnTo>
                <a:lnTo>
                  <a:pt x="0" y="3024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223038" y="522351"/>
            <a:ext cx="10498810" cy="93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I-</a:t>
            </a:r>
            <a:r>
              <a:rPr lang="en-US" sz="5699" b="1" u="none" strike="noStrike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Préparation des données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7250" y="2454518"/>
            <a:ext cx="2667297" cy="97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1 - Nettoyage des données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8630" y="2719948"/>
            <a:ext cx="12518622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Cette étape consiste à supprimer les doublons et à corriger les types de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619" y="1180314"/>
            <a:ext cx="3729985" cy="1600986"/>
            <a:chOff x="0" y="0"/>
            <a:chExt cx="982383" cy="421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2383" cy="421659"/>
            </a:xfrm>
            <a:custGeom>
              <a:avLst/>
              <a:gdLst/>
              <a:ahLst/>
              <a:cxnLst/>
              <a:rect l="l" t="t" r="r" b="b"/>
              <a:pathLst>
                <a:path w="982383" h="421659">
                  <a:moveTo>
                    <a:pt x="41512" y="0"/>
                  </a:moveTo>
                  <a:lnTo>
                    <a:pt x="940871" y="0"/>
                  </a:lnTo>
                  <a:cubicBezTo>
                    <a:pt x="963797" y="0"/>
                    <a:pt x="982383" y="18585"/>
                    <a:pt x="982383" y="41512"/>
                  </a:cubicBezTo>
                  <a:lnTo>
                    <a:pt x="982383" y="380147"/>
                  </a:lnTo>
                  <a:cubicBezTo>
                    <a:pt x="982383" y="403073"/>
                    <a:pt x="963797" y="421659"/>
                    <a:pt x="940871" y="421659"/>
                  </a:cubicBezTo>
                  <a:lnTo>
                    <a:pt x="41512" y="421659"/>
                  </a:lnTo>
                  <a:cubicBezTo>
                    <a:pt x="18585" y="421659"/>
                    <a:pt x="0" y="403073"/>
                    <a:pt x="0" y="380147"/>
                  </a:cubicBezTo>
                  <a:lnTo>
                    <a:pt x="0" y="41512"/>
                  </a:lnTo>
                  <a:cubicBezTo>
                    <a:pt x="0" y="18585"/>
                    <a:pt x="18585" y="0"/>
                    <a:pt x="41512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2383" cy="47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72727" y="1620325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8" y="0"/>
                </a:lnTo>
                <a:lnTo>
                  <a:pt x="688728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15770545" y="-352982"/>
            <a:ext cx="3665472" cy="1170374"/>
          </a:xfrm>
          <a:custGeom>
            <a:avLst/>
            <a:gdLst/>
            <a:ahLst/>
            <a:cxnLst/>
            <a:rect l="l" t="t" r="r" b="b"/>
            <a:pathLst>
              <a:path w="3665472" h="1170374">
                <a:moveTo>
                  <a:pt x="0" y="0"/>
                </a:moveTo>
                <a:lnTo>
                  <a:pt x="3665472" y="0"/>
                </a:lnTo>
                <a:lnTo>
                  <a:pt x="3665472" y="1170374"/>
                </a:lnTo>
                <a:lnTo>
                  <a:pt x="0" y="1170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8124402" y="9258300"/>
            <a:ext cx="8376238" cy="757321"/>
            <a:chOff x="0" y="0"/>
            <a:chExt cx="2206087" cy="1994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6087" cy="199459"/>
            </a:xfrm>
            <a:custGeom>
              <a:avLst/>
              <a:gdLst/>
              <a:ahLst/>
              <a:cxnLst/>
              <a:rect l="l" t="t" r="r" b="b"/>
              <a:pathLst>
                <a:path w="2206087" h="199459">
                  <a:moveTo>
                    <a:pt x="92427" y="0"/>
                  </a:moveTo>
                  <a:lnTo>
                    <a:pt x="2113660" y="0"/>
                  </a:lnTo>
                  <a:cubicBezTo>
                    <a:pt x="2138174" y="0"/>
                    <a:pt x="2161683" y="9738"/>
                    <a:pt x="2179016" y="27071"/>
                  </a:cubicBezTo>
                  <a:cubicBezTo>
                    <a:pt x="2196350" y="44405"/>
                    <a:pt x="2206087" y="67914"/>
                    <a:pt x="2206087" y="92427"/>
                  </a:cubicBezTo>
                  <a:lnTo>
                    <a:pt x="2206087" y="107032"/>
                  </a:lnTo>
                  <a:cubicBezTo>
                    <a:pt x="2206087" y="131545"/>
                    <a:pt x="2196350" y="155054"/>
                    <a:pt x="2179016" y="172388"/>
                  </a:cubicBezTo>
                  <a:cubicBezTo>
                    <a:pt x="2161683" y="189721"/>
                    <a:pt x="2138174" y="199459"/>
                    <a:pt x="2113660" y="199459"/>
                  </a:cubicBezTo>
                  <a:lnTo>
                    <a:pt x="92427" y="199459"/>
                  </a:lnTo>
                  <a:cubicBezTo>
                    <a:pt x="67914" y="199459"/>
                    <a:pt x="44405" y="189721"/>
                    <a:pt x="27071" y="172388"/>
                  </a:cubicBezTo>
                  <a:cubicBezTo>
                    <a:pt x="9738" y="155054"/>
                    <a:pt x="0" y="131545"/>
                    <a:pt x="0" y="107032"/>
                  </a:cubicBezTo>
                  <a:lnTo>
                    <a:pt x="0" y="92427"/>
                  </a:lnTo>
                  <a:cubicBezTo>
                    <a:pt x="0" y="67914"/>
                    <a:pt x="9738" y="44405"/>
                    <a:pt x="27071" y="27071"/>
                  </a:cubicBezTo>
                  <a:cubicBezTo>
                    <a:pt x="44405" y="9738"/>
                    <a:pt x="67914" y="0"/>
                    <a:pt x="9242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06087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54216" y="7853216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8" y="0"/>
                </a:lnTo>
                <a:lnTo>
                  <a:pt x="4867568" y="2433784"/>
                </a:lnTo>
                <a:lnTo>
                  <a:pt x="0" y="243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452668" y="1181100"/>
            <a:ext cx="3509911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 2 - Gestion 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 des valeurs manquantes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2430" y="1485900"/>
            <a:ext cx="12969370" cy="140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Cette étape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consiste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à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supprimer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les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lignes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dont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‘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Total_Deaths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’ est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manquant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(4 713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lignes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) et à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remplacer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‘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Damage_Thousands_USD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’ </a:t>
            </a:r>
            <a:r>
              <a:rPr lang="en-US" sz="27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manquant</a:t>
            </a: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par 0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FA55379-9CF3-AB62-5127-C7357D4D8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003" y="3009900"/>
            <a:ext cx="11159597" cy="404333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365B841-7CF3-480C-871E-6B4D67D79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0" y="7406148"/>
            <a:ext cx="9144000" cy="1663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619" y="895350"/>
            <a:ext cx="3729985" cy="1600986"/>
            <a:chOff x="0" y="0"/>
            <a:chExt cx="982383" cy="421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2383" cy="421659"/>
            </a:xfrm>
            <a:custGeom>
              <a:avLst/>
              <a:gdLst/>
              <a:ahLst/>
              <a:cxnLst/>
              <a:rect l="l" t="t" r="r" b="b"/>
              <a:pathLst>
                <a:path w="982383" h="421659">
                  <a:moveTo>
                    <a:pt x="41512" y="0"/>
                  </a:moveTo>
                  <a:lnTo>
                    <a:pt x="940871" y="0"/>
                  </a:lnTo>
                  <a:cubicBezTo>
                    <a:pt x="963797" y="0"/>
                    <a:pt x="982383" y="18585"/>
                    <a:pt x="982383" y="41512"/>
                  </a:cubicBezTo>
                  <a:lnTo>
                    <a:pt x="982383" y="380147"/>
                  </a:lnTo>
                  <a:cubicBezTo>
                    <a:pt x="982383" y="403073"/>
                    <a:pt x="963797" y="421659"/>
                    <a:pt x="940871" y="421659"/>
                  </a:cubicBezTo>
                  <a:lnTo>
                    <a:pt x="41512" y="421659"/>
                  </a:lnTo>
                  <a:cubicBezTo>
                    <a:pt x="18585" y="421659"/>
                    <a:pt x="0" y="403073"/>
                    <a:pt x="0" y="380147"/>
                  </a:cubicBezTo>
                  <a:lnTo>
                    <a:pt x="0" y="41512"/>
                  </a:lnTo>
                  <a:cubicBezTo>
                    <a:pt x="0" y="18585"/>
                    <a:pt x="18585" y="0"/>
                    <a:pt x="41512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2383" cy="47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72727" y="1351479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8" y="0"/>
                </a:lnTo>
                <a:lnTo>
                  <a:pt x="688728" y="688728"/>
                </a:lnTo>
                <a:lnTo>
                  <a:pt x="0" y="688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15770545" y="-352982"/>
            <a:ext cx="3665472" cy="1170374"/>
          </a:xfrm>
          <a:custGeom>
            <a:avLst/>
            <a:gdLst/>
            <a:ahLst/>
            <a:cxnLst/>
            <a:rect l="l" t="t" r="r" b="b"/>
            <a:pathLst>
              <a:path w="3665472" h="1170374">
                <a:moveTo>
                  <a:pt x="0" y="0"/>
                </a:moveTo>
                <a:lnTo>
                  <a:pt x="3665472" y="0"/>
                </a:lnTo>
                <a:lnTo>
                  <a:pt x="3665472" y="1170374"/>
                </a:lnTo>
                <a:lnTo>
                  <a:pt x="0" y="1170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8124402" y="9258300"/>
            <a:ext cx="8376238" cy="757321"/>
            <a:chOff x="0" y="0"/>
            <a:chExt cx="2206087" cy="1994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6087" cy="199459"/>
            </a:xfrm>
            <a:custGeom>
              <a:avLst/>
              <a:gdLst/>
              <a:ahLst/>
              <a:cxnLst/>
              <a:rect l="l" t="t" r="r" b="b"/>
              <a:pathLst>
                <a:path w="2206087" h="199459">
                  <a:moveTo>
                    <a:pt x="92427" y="0"/>
                  </a:moveTo>
                  <a:lnTo>
                    <a:pt x="2113660" y="0"/>
                  </a:lnTo>
                  <a:cubicBezTo>
                    <a:pt x="2138174" y="0"/>
                    <a:pt x="2161683" y="9738"/>
                    <a:pt x="2179016" y="27071"/>
                  </a:cubicBezTo>
                  <a:cubicBezTo>
                    <a:pt x="2196350" y="44405"/>
                    <a:pt x="2206087" y="67914"/>
                    <a:pt x="2206087" y="92427"/>
                  </a:cubicBezTo>
                  <a:lnTo>
                    <a:pt x="2206087" y="107032"/>
                  </a:lnTo>
                  <a:cubicBezTo>
                    <a:pt x="2206087" y="131545"/>
                    <a:pt x="2196350" y="155054"/>
                    <a:pt x="2179016" y="172388"/>
                  </a:cubicBezTo>
                  <a:cubicBezTo>
                    <a:pt x="2161683" y="189721"/>
                    <a:pt x="2138174" y="199459"/>
                    <a:pt x="2113660" y="199459"/>
                  </a:cubicBezTo>
                  <a:lnTo>
                    <a:pt x="92427" y="199459"/>
                  </a:lnTo>
                  <a:cubicBezTo>
                    <a:pt x="67914" y="199459"/>
                    <a:pt x="44405" y="189721"/>
                    <a:pt x="27071" y="172388"/>
                  </a:cubicBezTo>
                  <a:cubicBezTo>
                    <a:pt x="9738" y="155054"/>
                    <a:pt x="0" y="131545"/>
                    <a:pt x="0" y="107032"/>
                  </a:cubicBezTo>
                  <a:lnTo>
                    <a:pt x="0" y="92427"/>
                  </a:lnTo>
                  <a:cubicBezTo>
                    <a:pt x="0" y="67914"/>
                    <a:pt x="9738" y="44405"/>
                    <a:pt x="27071" y="27071"/>
                  </a:cubicBezTo>
                  <a:cubicBezTo>
                    <a:pt x="44405" y="9738"/>
                    <a:pt x="67914" y="0"/>
                    <a:pt x="9242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06087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078200" y="8041408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8" y="0"/>
                </a:lnTo>
                <a:lnTo>
                  <a:pt x="4867568" y="2433784"/>
                </a:lnTo>
                <a:lnTo>
                  <a:pt x="0" y="243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5199381" y="2899802"/>
            <a:ext cx="11301259" cy="3504605"/>
          </a:xfrm>
          <a:custGeom>
            <a:avLst/>
            <a:gdLst/>
            <a:ahLst/>
            <a:cxnLst/>
            <a:rect l="l" t="t" r="r" b="b"/>
            <a:pathLst>
              <a:path w="11301259" h="3504605">
                <a:moveTo>
                  <a:pt x="0" y="0"/>
                </a:moveTo>
                <a:lnTo>
                  <a:pt x="11301259" y="0"/>
                </a:lnTo>
                <a:lnTo>
                  <a:pt x="11301259" y="3504606"/>
                </a:lnTo>
                <a:lnTo>
                  <a:pt x="0" y="3504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020" b="-1005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543218" y="6937808"/>
            <a:ext cx="7659017" cy="1570529"/>
          </a:xfrm>
          <a:custGeom>
            <a:avLst/>
            <a:gdLst/>
            <a:ahLst/>
            <a:cxnLst/>
            <a:rect l="l" t="t" r="r" b="b"/>
            <a:pathLst>
              <a:path w="7659017" h="1570529">
                <a:moveTo>
                  <a:pt x="0" y="0"/>
                </a:moveTo>
                <a:lnTo>
                  <a:pt x="7659017" y="0"/>
                </a:lnTo>
                <a:lnTo>
                  <a:pt x="7659017" y="1570528"/>
                </a:lnTo>
                <a:lnTo>
                  <a:pt x="0" y="157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161656" y="976782"/>
            <a:ext cx="3509911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 3 -  Traitement </a:t>
            </a: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des valeurs 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        aberrantes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2430" y="1434859"/>
            <a:ext cx="12969370" cy="93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Dans cette étape, nous appliquons la méthode de capping basée sur l’IQR afin de traiter les valeurs extrêmes, tout en les conservant sans suppression.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9967" y="6871133"/>
            <a:ext cx="8979990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Cette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méthode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permet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limiter les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valeurs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très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élevées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sans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supprimer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lignes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dataset.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cible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Severe est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définie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à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partir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Total_Deaths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avant le capping ;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Total_Deaths_Capped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sert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à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l’analyse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et au clustering.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619" y="1739250"/>
            <a:ext cx="3729985" cy="1600986"/>
            <a:chOff x="0" y="0"/>
            <a:chExt cx="982383" cy="421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2383" cy="421659"/>
            </a:xfrm>
            <a:custGeom>
              <a:avLst/>
              <a:gdLst/>
              <a:ahLst/>
              <a:cxnLst/>
              <a:rect l="l" t="t" r="r" b="b"/>
              <a:pathLst>
                <a:path w="982383" h="421659">
                  <a:moveTo>
                    <a:pt x="41512" y="0"/>
                  </a:moveTo>
                  <a:lnTo>
                    <a:pt x="940871" y="0"/>
                  </a:lnTo>
                  <a:cubicBezTo>
                    <a:pt x="963797" y="0"/>
                    <a:pt x="982383" y="18585"/>
                    <a:pt x="982383" y="41512"/>
                  </a:cubicBezTo>
                  <a:lnTo>
                    <a:pt x="982383" y="380147"/>
                  </a:lnTo>
                  <a:cubicBezTo>
                    <a:pt x="982383" y="403073"/>
                    <a:pt x="963797" y="421659"/>
                    <a:pt x="940871" y="421659"/>
                  </a:cubicBezTo>
                  <a:lnTo>
                    <a:pt x="41512" y="421659"/>
                  </a:lnTo>
                  <a:cubicBezTo>
                    <a:pt x="18585" y="421659"/>
                    <a:pt x="0" y="403073"/>
                    <a:pt x="0" y="380147"/>
                  </a:cubicBezTo>
                  <a:lnTo>
                    <a:pt x="0" y="41512"/>
                  </a:lnTo>
                  <a:cubicBezTo>
                    <a:pt x="0" y="18585"/>
                    <a:pt x="18585" y="0"/>
                    <a:pt x="41512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2383" cy="47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72727" y="2195379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8" y="0"/>
                </a:lnTo>
                <a:lnTo>
                  <a:pt x="688728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15770545" y="-352982"/>
            <a:ext cx="3665472" cy="1170374"/>
          </a:xfrm>
          <a:custGeom>
            <a:avLst/>
            <a:gdLst/>
            <a:ahLst/>
            <a:cxnLst/>
            <a:rect l="l" t="t" r="r" b="b"/>
            <a:pathLst>
              <a:path w="3665472" h="1170374">
                <a:moveTo>
                  <a:pt x="0" y="0"/>
                </a:moveTo>
                <a:lnTo>
                  <a:pt x="3665472" y="0"/>
                </a:lnTo>
                <a:lnTo>
                  <a:pt x="3665472" y="1170374"/>
                </a:lnTo>
                <a:lnTo>
                  <a:pt x="0" y="1170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8124402" y="9258300"/>
            <a:ext cx="8376238" cy="757321"/>
            <a:chOff x="0" y="0"/>
            <a:chExt cx="2206087" cy="1994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6087" cy="199459"/>
            </a:xfrm>
            <a:custGeom>
              <a:avLst/>
              <a:gdLst/>
              <a:ahLst/>
              <a:cxnLst/>
              <a:rect l="l" t="t" r="r" b="b"/>
              <a:pathLst>
                <a:path w="2206087" h="199459">
                  <a:moveTo>
                    <a:pt x="92427" y="0"/>
                  </a:moveTo>
                  <a:lnTo>
                    <a:pt x="2113660" y="0"/>
                  </a:lnTo>
                  <a:cubicBezTo>
                    <a:pt x="2138174" y="0"/>
                    <a:pt x="2161683" y="9738"/>
                    <a:pt x="2179016" y="27071"/>
                  </a:cubicBezTo>
                  <a:cubicBezTo>
                    <a:pt x="2196350" y="44405"/>
                    <a:pt x="2206087" y="67914"/>
                    <a:pt x="2206087" y="92427"/>
                  </a:cubicBezTo>
                  <a:lnTo>
                    <a:pt x="2206087" y="107032"/>
                  </a:lnTo>
                  <a:cubicBezTo>
                    <a:pt x="2206087" y="131545"/>
                    <a:pt x="2196350" y="155054"/>
                    <a:pt x="2179016" y="172388"/>
                  </a:cubicBezTo>
                  <a:cubicBezTo>
                    <a:pt x="2161683" y="189721"/>
                    <a:pt x="2138174" y="199459"/>
                    <a:pt x="2113660" y="199459"/>
                  </a:cubicBezTo>
                  <a:lnTo>
                    <a:pt x="92427" y="199459"/>
                  </a:lnTo>
                  <a:cubicBezTo>
                    <a:pt x="67914" y="199459"/>
                    <a:pt x="44405" y="189721"/>
                    <a:pt x="27071" y="172388"/>
                  </a:cubicBezTo>
                  <a:cubicBezTo>
                    <a:pt x="9738" y="155054"/>
                    <a:pt x="0" y="131545"/>
                    <a:pt x="0" y="107032"/>
                  </a:cubicBezTo>
                  <a:lnTo>
                    <a:pt x="0" y="92427"/>
                  </a:lnTo>
                  <a:cubicBezTo>
                    <a:pt x="0" y="67914"/>
                    <a:pt x="9738" y="44405"/>
                    <a:pt x="27071" y="27071"/>
                  </a:cubicBezTo>
                  <a:cubicBezTo>
                    <a:pt x="44405" y="9738"/>
                    <a:pt x="67914" y="0"/>
                    <a:pt x="9242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06087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54216" y="7853216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8" y="0"/>
                </a:lnTo>
                <a:lnTo>
                  <a:pt x="4867568" y="2433784"/>
                </a:lnTo>
                <a:lnTo>
                  <a:pt x="0" y="243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2470817" y="3710534"/>
            <a:ext cx="14788483" cy="3319864"/>
          </a:xfrm>
          <a:custGeom>
            <a:avLst/>
            <a:gdLst/>
            <a:ahLst/>
            <a:cxnLst/>
            <a:rect l="l" t="t" r="r" b="b"/>
            <a:pathLst>
              <a:path w="14788483" h="3319864">
                <a:moveTo>
                  <a:pt x="0" y="0"/>
                </a:moveTo>
                <a:lnTo>
                  <a:pt x="14788483" y="0"/>
                </a:lnTo>
                <a:lnTo>
                  <a:pt x="14788483" y="3319864"/>
                </a:lnTo>
                <a:lnTo>
                  <a:pt x="0" y="3319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586291" y="1907479"/>
            <a:ext cx="3509911" cy="97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E1EFEA"/>
                </a:solidFill>
                <a:latin typeface="Aileron Heavy"/>
                <a:ea typeface="Aileron Heavy"/>
                <a:cs typeface="Aileron Heavy"/>
                <a:sym typeface="Aileron Heavy"/>
              </a:rPr>
              <a:t>4 -  Feature Engineering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42430" y="1888429"/>
            <a:ext cx="12969370" cy="140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Dans cette étape, nous créons la variable cible Severe, ainsi que la variable Decade, puis nous appliquons une transformation logarithmique sur la variable Damage_Thousands_USD pour obtenir Damage_Log.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619" y="7240673"/>
            <a:ext cx="13371951" cy="390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Decade :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décennie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l’événement</a:t>
            </a: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515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Damage_Log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 transformation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logarithmique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dommages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économiques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exprimés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milliers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dollars,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afin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réduire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l'effet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grandes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valeurs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l">
              <a:lnSpc>
                <a:spcPts val="515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Severe :  1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si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nombre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décès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est supérieur à 100,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sinon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0.</a:t>
            </a:r>
          </a:p>
          <a:p>
            <a:pPr algn="l">
              <a:lnSpc>
                <a:spcPts val="5150"/>
              </a:lnSpc>
            </a:pP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5150"/>
              </a:lnSpc>
              <a:spcBef>
                <a:spcPct val="0"/>
              </a:spcBef>
            </a:pP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90681" y="9379212"/>
            <a:ext cx="14943665" cy="757321"/>
            <a:chOff x="0" y="0"/>
            <a:chExt cx="3935780" cy="1994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5780" cy="199459"/>
            </a:xfrm>
            <a:custGeom>
              <a:avLst/>
              <a:gdLst/>
              <a:ahLst/>
              <a:cxnLst/>
              <a:rect l="l" t="t" r="r" b="b"/>
              <a:pathLst>
                <a:path w="3935780" h="199459">
                  <a:moveTo>
                    <a:pt x="51807" y="0"/>
                  </a:moveTo>
                  <a:lnTo>
                    <a:pt x="3883973" y="0"/>
                  </a:lnTo>
                  <a:cubicBezTo>
                    <a:pt x="3912585" y="0"/>
                    <a:pt x="3935780" y="23195"/>
                    <a:pt x="3935780" y="51807"/>
                  </a:cubicBezTo>
                  <a:lnTo>
                    <a:pt x="3935780" y="147652"/>
                  </a:lnTo>
                  <a:cubicBezTo>
                    <a:pt x="3935780" y="161392"/>
                    <a:pt x="3930322" y="174569"/>
                    <a:pt x="3920606" y="184285"/>
                  </a:cubicBezTo>
                  <a:cubicBezTo>
                    <a:pt x="3910890" y="194001"/>
                    <a:pt x="3897713" y="199459"/>
                    <a:pt x="3883973" y="199459"/>
                  </a:cubicBezTo>
                  <a:lnTo>
                    <a:pt x="51807" y="199459"/>
                  </a:lnTo>
                  <a:cubicBezTo>
                    <a:pt x="23195" y="199459"/>
                    <a:pt x="0" y="176264"/>
                    <a:pt x="0" y="147652"/>
                  </a:cubicBezTo>
                  <a:lnTo>
                    <a:pt x="0" y="51807"/>
                  </a:lnTo>
                  <a:cubicBezTo>
                    <a:pt x="0" y="23195"/>
                    <a:pt x="23195" y="0"/>
                    <a:pt x="5180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35780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8405385">
            <a:off x="15683474" y="-404461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0"/>
                </a:moveTo>
                <a:lnTo>
                  <a:pt x="4440685" y="0"/>
                </a:lnTo>
                <a:lnTo>
                  <a:pt x="4440685" y="2220343"/>
                </a:lnTo>
                <a:lnTo>
                  <a:pt x="0" y="222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-326228" y="0"/>
            <a:ext cx="1657164" cy="529128"/>
          </a:xfrm>
          <a:custGeom>
            <a:avLst/>
            <a:gdLst/>
            <a:ahLst/>
            <a:cxnLst/>
            <a:rect l="l" t="t" r="r" b="b"/>
            <a:pathLst>
              <a:path w="1657164" h="529128">
                <a:moveTo>
                  <a:pt x="0" y="0"/>
                </a:moveTo>
                <a:lnTo>
                  <a:pt x="1657165" y="0"/>
                </a:lnTo>
                <a:lnTo>
                  <a:pt x="1657165" y="529128"/>
                </a:lnTo>
                <a:lnTo>
                  <a:pt x="0" y="529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9309445" y="4201996"/>
            <a:ext cx="8862022" cy="5951654"/>
          </a:xfrm>
          <a:custGeom>
            <a:avLst/>
            <a:gdLst/>
            <a:ahLst/>
            <a:cxnLst/>
            <a:rect l="l" t="t" r="r" b="b"/>
            <a:pathLst>
              <a:path w="8862022" h="5951654">
                <a:moveTo>
                  <a:pt x="0" y="0"/>
                </a:moveTo>
                <a:lnTo>
                  <a:pt x="8862022" y="0"/>
                </a:lnTo>
                <a:lnTo>
                  <a:pt x="8862022" y="5951654"/>
                </a:lnTo>
                <a:lnTo>
                  <a:pt x="0" y="5951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15430" y="3269831"/>
            <a:ext cx="9057145" cy="2932848"/>
          </a:xfrm>
          <a:custGeom>
            <a:avLst/>
            <a:gdLst/>
            <a:ahLst/>
            <a:cxnLst/>
            <a:rect l="l" t="t" r="r" b="b"/>
            <a:pathLst>
              <a:path w="9057145" h="2932848">
                <a:moveTo>
                  <a:pt x="0" y="0"/>
                </a:moveTo>
                <a:lnTo>
                  <a:pt x="9057145" y="0"/>
                </a:lnTo>
                <a:lnTo>
                  <a:pt x="9057145" y="2932847"/>
                </a:lnTo>
                <a:lnTo>
                  <a:pt x="0" y="2932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232" b="-252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990600" y="443403"/>
            <a:ext cx="9501313" cy="174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II- Analyse exploratoire des données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507834" y="2338771"/>
            <a:ext cx="9501313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1. Analyse des distributions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623" y="6669403"/>
            <a:ext cx="8475377" cy="218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L’analyse de distribution des variables permet d’identifier la dispersion des données ainsi que la présence de valeurs extrêmes.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Elle aide également à comprendre la structure globale des données avant la modélisation.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8095" y="2746439"/>
            <a:ext cx="8560922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Le principal bénéfice est d’améliorer la qualité des données et de guider les transformations nécessaires afin d’optimiser les performances des modèles.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90681" y="9379212"/>
            <a:ext cx="14943665" cy="757321"/>
            <a:chOff x="0" y="0"/>
            <a:chExt cx="3935780" cy="1994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5780" cy="199459"/>
            </a:xfrm>
            <a:custGeom>
              <a:avLst/>
              <a:gdLst/>
              <a:ahLst/>
              <a:cxnLst/>
              <a:rect l="l" t="t" r="r" b="b"/>
              <a:pathLst>
                <a:path w="3935780" h="199459">
                  <a:moveTo>
                    <a:pt x="51807" y="0"/>
                  </a:moveTo>
                  <a:lnTo>
                    <a:pt x="3883973" y="0"/>
                  </a:lnTo>
                  <a:cubicBezTo>
                    <a:pt x="3912585" y="0"/>
                    <a:pt x="3935780" y="23195"/>
                    <a:pt x="3935780" y="51807"/>
                  </a:cubicBezTo>
                  <a:lnTo>
                    <a:pt x="3935780" y="147652"/>
                  </a:lnTo>
                  <a:cubicBezTo>
                    <a:pt x="3935780" y="161392"/>
                    <a:pt x="3930322" y="174569"/>
                    <a:pt x="3920606" y="184285"/>
                  </a:cubicBezTo>
                  <a:cubicBezTo>
                    <a:pt x="3910890" y="194001"/>
                    <a:pt x="3897713" y="199459"/>
                    <a:pt x="3883973" y="199459"/>
                  </a:cubicBezTo>
                  <a:lnTo>
                    <a:pt x="51807" y="199459"/>
                  </a:lnTo>
                  <a:cubicBezTo>
                    <a:pt x="23195" y="199459"/>
                    <a:pt x="0" y="176264"/>
                    <a:pt x="0" y="147652"/>
                  </a:cubicBezTo>
                  <a:lnTo>
                    <a:pt x="0" y="51807"/>
                  </a:lnTo>
                  <a:cubicBezTo>
                    <a:pt x="0" y="23195"/>
                    <a:pt x="23195" y="0"/>
                    <a:pt x="5180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35780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8405385">
            <a:off x="15683474" y="-404461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0"/>
                </a:moveTo>
                <a:lnTo>
                  <a:pt x="4440685" y="0"/>
                </a:lnTo>
                <a:lnTo>
                  <a:pt x="4440685" y="2220343"/>
                </a:lnTo>
                <a:lnTo>
                  <a:pt x="0" y="222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-326228" y="0"/>
            <a:ext cx="1657164" cy="529128"/>
          </a:xfrm>
          <a:custGeom>
            <a:avLst/>
            <a:gdLst/>
            <a:ahLst/>
            <a:cxnLst/>
            <a:rect l="l" t="t" r="r" b="b"/>
            <a:pathLst>
              <a:path w="1657164" h="529128">
                <a:moveTo>
                  <a:pt x="0" y="0"/>
                </a:moveTo>
                <a:lnTo>
                  <a:pt x="1657165" y="0"/>
                </a:lnTo>
                <a:lnTo>
                  <a:pt x="1657165" y="529128"/>
                </a:lnTo>
                <a:lnTo>
                  <a:pt x="0" y="529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4005280" y="2348694"/>
            <a:ext cx="9548991" cy="6134703"/>
          </a:xfrm>
          <a:custGeom>
            <a:avLst/>
            <a:gdLst/>
            <a:ahLst/>
            <a:cxnLst/>
            <a:rect l="l" t="t" r="r" b="b"/>
            <a:pathLst>
              <a:path w="9548991" h="6134703">
                <a:moveTo>
                  <a:pt x="0" y="0"/>
                </a:moveTo>
                <a:lnTo>
                  <a:pt x="9548991" y="0"/>
                </a:lnTo>
                <a:lnTo>
                  <a:pt x="9548991" y="6134703"/>
                </a:lnTo>
                <a:lnTo>
                  <a:pt x="0" y="6134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-1318849" y="971550"/>
            <a:ext cx="9501313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2. Analyse des valeurs extrêmes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355" y="1708895"/>
            <a:ext cx="16243065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Cette boîte à moustaches permet de visualiser la dispersion des données ainsi que les valeurs extrêmes.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587" y="8844956"/>
            <a:ext cx="16230600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⟶   Cette étape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permet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mieux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comprendre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la distribution des données et de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préparer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les transformations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nécessaires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90681" y="9379212"/>
            <a:ext cx="14943665" cy="757321"/>
            <a:chOff x="0" y="0"/>
            <a:chExt cx="3935780" cy="1994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5780" cy="199459"/>
            </a:xfrm>
            <a:custGeom>
              <a:avLst/>
              <a:gdLst/>
              <a:ahLst/>
              <a:cxnLst/>
              <a:rect l="l" t="t" r="r" b="b"/>
              <a:pathLst>
                <a:path w="3935780" h="199459">
                  <a:moveTo>
                    <a:pt x="51807" y="0"/>
                  </a:moveTo>
                  <a:lnTo>
                    <a:pt x="3883973" y="0"/>
                  </a:lnTo>
                  <a:cubicBezTo>
                    <a:pt x="3912585" y="0"/>
                    <a:pt x="3935780" y="23195"/>
                    <a:pt x="3935780" y="51807"/>
                  </a:cubicBezTo>
                  <a:lnTo>
                    <a:pt x="3935780" y="147652"/>
                  </a:lnTo>
                  <a:cubicBezTo>
                    <a:pt x="3935780" y="161392"/>
                    <a:pt x="3930322" y="174569"/>
                    <a:pt x="3920606" y="184285"/>
                  </a:cubicBezTo>
                  <a:cubicBezTo>
                    <a:pt x="3910890" y="194001"/>
                    <a:pt x="3897713" y="199459"/>
                    <a:pt x="3883973" y="199459"/>
                  </a:cubicBezTo>
                  <a:lnTo>
                    <a:pt x="51807" y="199459"/>
                  </a:lnTo>
                  <a:cubicBezTo>
                    <a:pt x="23195" y="199459"/>
                    <a:pt x="0" y="176264"/>
                    <a:pt x="0" y="147652"/>
                  </a:cubicBezTo>
                  <a:lnTo>
                    <a:pt x="0" y="51807"/>
                  </a:lnTo>
                  <a:cubicBezTo>
                    <a:pt x="0" y="23195"/>
                    <a:pt x="23195" y="0"/>
                    <a:pt x="51807" y="0"/>
                  </a:cubicBezTo>
                  <a:close/>
                </a:path>
              </a:pathLst>
            </a:custGeom>
            <a:solidFill>
              <a:srgbClr val="E1EFE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35780" cy="256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8405385">
            <a:off x="15683474" y="-404461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0"/>
                </a:moveTo>
                <a:lnTo>
                  <a:pt x="4440685" y="0"/>
                </a:lnTo>
                <a:lnTo>
                  <a:pt x="4440685" y="2220343"/>
                </a:lnTo>
                <a:lnTo>
                  <a:pt x="0" y="222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-10800000">
            <a:off x="17075235" y="9757872"/>
            <a:ext cx="1657164" cy="529128"/>
          </a:xfrm>
          <a:custGeom>
            <a:avLst/>
            <a:gdLst/>
            <a:ahLst/>
            <a:cxnLst/>
            <a:rect l="l" t="t" r="r" b="b"/>
            <a:pathLst>
              <a:path w="1657164" h="529128">
                <a:moveTo>
                  <a:pt x="0" y="0"/>
                </a:moveTo>
                <a:lnTo>
                  <a:pt x="1657164" y="0"/>
                </a:lnTo>
                <a:lnTo>
                  <a:pt x="1657164" y="529128"/>
                </a:lnTo>
                <a:lnTo>
                  <a:pt x="0" y="529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6433004" y="6759198"/>
            <a:ext cx="11301259" cy="3263239"/>
          </a:xfrm>
          <a:custGeom>
            <a:avLst/>
            <a:gdLst/>
            <a:ahLst/>
            <a:cxnLst/>
            <a:rect l="l" t="t" r="r" b="b"/>
            <a:pathLst>
              <a:path w="11301259" h="3263239">
                <a:moveTo>
                  <a:pt x="0" y="0"/>
                </a:moveTo>
                <a:lnTo>
                  <a:pt x="11301259" y="0"/>
                </a:lnTo>
                <a:lnTo>
                  <a:pt x="11301259" y="3263238"/>
                </a:lnTo>
                <a:lnTo>
                  <a:pt x="0" y="32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916809" y="5557130"/>
            <a:ext cx="10014141" cy="770587"/>
          </a:xfrm>
          <a:custGeom>
            <a:avLst/>
            <a:gdLst/>
            <a:ahLst/>
            <a:cxnLst/>
            <a:rect l="l" t="t" r="r" b="b"/>
            <a:pathLst>
              <a:path w="10014141" h="770587">
                <a:moveTo>
                  <a:pt x="0" y="0"/>
                </a:moveTo>
                <a:lnTo>
                  <a:pt x="10014141" y="0"/>
                </a:lnTo>
                <a:lnTo>
                  <a:pt x="10014141" y="770587"/>
                </a:lnTo>
                <a:lnTo>
                  <a:pt x="0" y="770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995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6275225" y="3148393"/>
            <a:ext cx="11616817" cy="2207837"/>
          </a:xfrm>
          <a:custGeom>
            <a:avLst/>
            <a:gdLst/>
            <a:ahLst/>
            <a:cxnLst/>
            <a:rect l="l" t="t" r="r" b="b"/>
            <a:pathLst>
              <a:path w="11616817" h="2207837">
                <a:moveTo>
                  <a:pt x="0" y="0"/>
                </a:moveTo>
                <a:lnTo>
                  <a:pt x="11616817" y="0"/>
                </a:lnTo>
                <a:lnTo>
                  <a:pt x="11616817" y="2207837"/>
                </a:lnTo>
                <a:lnTo>
                  <a:pt x="0" y="2207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26155" y="239724"/>
            <a:ext cx="11027930" cy="93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III- Application du clustering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355" y="1603208"/>
            <a:ext cx="16382836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066150"/>
                </a:solidFill>
                <a:latin typeface="Aileron Bold"/>
                <a:ea typeface="Aileron Bold"/>
                <a:cs typeface="Aileron Bold"/>
                <a:sym typeface="Aileron Bold"/>
              </a:rPr>
              <a:t>  Notre objectif  est de regrouper les catastrophes similaires à l’aide de l’algorithme KMeans et les données normalisées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 b="1">
              <a:solidFill>
                <a:srgbClr val="06615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69005" y="2686057"/>
            <a:ext cx="11249025" cy="262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1- Pour le clustering, nous utilisons les variables descriptives suivantes : 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Total_Deaths_Capped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Damage_Log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Year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Les variables du type de catastrophe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355" y="6490517"/>
            <a:ext cx="5033606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2- Choix du nombre de clusters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355" y="7280815"/>
            <a:ext cx="6401648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Test de plusieurs valeurs de k en utilisant :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Méthode du coude (inertie)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Silhouette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266" y="3064122"/>
            <a:ext cx="10905062" cy="5586545"/>
          </a:xfrm>
          <a:custGeom>
            <a:avLst/>
            <a:gdLst/>
            <a:ahLst/>
            <a:cxnLst/>
            <a:rect l="l" t="t" r="r" b="b"/>
            <a:pathLst>
              <a:path w="10905062" h="5586545">
                <a:moveTo>
                  <a:pt x="0" y="0"/>
                </a:moveTo>
                <a:lnTo>
                  <a:pt x="10905062" y="0"/>
                </a:lnTo>
                <a:lnTo>
                  <a:pt x="10905062" y="5586545"/>
                </a:lnTo>
                <a:lnTo>
                  <a:pt x="0" y="558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9" r="-172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3029749" y="565785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75134" y="-42544"/>
            <a:ext cx="2768332" cy="883920"/>
          </a:xfrm>
          <a:custGeom>
            <a:avLst/>
            <a:gdLst/>
            <a:ahLst/>
            <a:cxnLst/>
            <a:rect l="l" t="t" r="r" b="b"/>
            <a:pathLst>
              <a:path w="2768332" h="883920">
                <a:moveTo>
                  <a:pt x="0" y="0"/>
                </a:moveTo>
                <a:lnTo>
                  <a:pt x="2768332" y="0"/>
                </a:lnTo>
                <a:lnTo>
                  <a:pt x="2768332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1597471" y="4545181"/>
            <a:ext cx="6502638" cy="5189330"/>
          </a:xfrm>
          <a:custGeom>
            <a:avLst/>
            <a:gdLst/>
            <a:ahLst/>
            <a:cxnLst/>
            <a:rect l="l" t="t" r="r" b="b"/>
            <a:pathLst>
              <a:path w="6502638" h="5189330">
                <a:moveTo>
                  <a:pt x="0" y="0"/>
                </a:moveTo>
                <a:lnTo>
                  <a:pt x="6502638" y="0"/>
                </a:lnTo>
                <a:lnTo>
                  <a:pt x="6502638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88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66675" y="596902"/>
            <a:ext cx="7554703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3. Recherche du meilleur nombre de clusters: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6341" y="1232149"/>
            <a:ext cx="12510135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Pour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évaluer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qualité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clustering, nous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utilisons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 </a:t>
            </a:r>
          </a:p>
          <a:p>
            <a:pPr marL="539764" lvl="1" indent="-269882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valeurs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k comprises entre 2 et 8</a:t>
            </a:r>
          </a:p>
          <a:p>
            <a:pPr marL="539764" lvl="1" indent="-269882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Silhouette Score : plus il est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proche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1,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meilleure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est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séparation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entre les clusters.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48113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0661313" y="0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2220342"/>
                </a:moveTo>
                <a:lnTo>
                  <a:pt x="4440685" y="2220342"/>
                </a:lnTo>
                <a:lnTo>
                  <a:pt x="4440685" y="0"/>
                </a:lnTo>
                <a:lnTo>
                  <a:pt x="0" y="0"/>
                </a:lnTo>
                <a:lnTo>
                  <a:pt x="0" y="2220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5179383" y="8637421"/>
            <a:ext cx="10625736" cy="1183359"/>
          </a:xfrm>
          <a:custGeom>
            <a:avLst/>
            <a:gdLst/>
            <a:ahLst/>
            <a:cxnLst/>
            <a:rect l="l" t="t" r="r" b="b"/>
            <a:pathLst>
              <a:path w="10625736" h="1183359">
                <a:moveTo>
                  <a:pt x="0" y="0"/>
                </a:moveTo>
                <a:lnTo>
                  <a:pt x="10625736" y="0"/>
                </a:lnTo>
                <a:lnTo>
                  <a:pt x="10625736" y="1183359"/>
                </a:lnTo>
                <a:lnTo>
                  <a:pt x="0" y="118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028" b="-2381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9293824" y="2425423"/>
            <a:ext cx="6708176" cy="5471712"/>
          </a:xfrm>
          <a:custGeom>
            <a:avLst/>
            <a:gdLst/>
            <a:ahLst/>
            <a:cxnLst/>
            <a:rect l="l" t="t" r="r" b="b"/>
            <a:pathLst>
              <a:path w="6708176" h="5471712">
                <a:moveTo>
                  <a:pt x="0" y="0"/>
                </a:moveTo>
                <a:lnTo>
                  <a:pt x="6708176" y="0"/>
                </a:lnTo>
                <a:lnTo>
                  <a:pt x="6708176" y="5471711"/>
                </a:lnTo>
                <a:lnTo>
                  <a:pt x="0" y="5471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246159" y="2320648"/>
            <a:ext cx="8821641" cy="5964348"/>
          </a:xfrm>
          <a:custGeom>
            <a:avLst/>
            <a:gdLst/>
            <a:ahLst/>
            <a:cxnLst/>
            <a:rect l="l" t="t" r="r" b="b"/>
            <a:pathLst>
              <a:path w="8821641" h="5964348">
                <a:moveTo>
                  <a:pt x="0" y="0"/>
                </a:moveTo>
                <a:lnTo>
                  <a:pt x="8821641" y="0"/>
                </a:lnTo>
                <a:lnTo>
                  <a:pt x="8821641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028700" y="606427"/>
            <a:ext cx="7554703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4. Résultat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257300"/>
            <a:ext cx="8953500" cy="869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Nous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affichons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graphe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- le score de silhouette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fonction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nombre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clusters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09060" y="2859498"/>
            <a:ext cx="10999510" cy="7313202"/>
          </a:xfrm>
          <a:custGeom>
            <a:avLst/>
            <a:gdLst/>
            <a:ahLst/>
            <a:cxnLst/>
            <a:rect l="l" t="t" r="r" b="b"/>
            <a:pathLst>
              <a:path w="10999510" h="7313202">
                <a:moveTo>
                  <a:pt x="0" y="0"/>
                </a:moveTo>
                <a:lnTo>
                  <a:pt x="10999510" y="0"/>
                </a:lnTo>
                <a:lnTo>
                  <a:pt x="10999510" y="7313202"/>
                </a:lnTo>
                <a:lnTo>
                  <a:pt x="0" y="7313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" t="-1306" r="-434" b="-9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606427"/>
            <a:ext cx="9810358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5. Visualisation des clusters KMeans :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3365" y="1381319"/>
            <a:ext cx="14963656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Les clusters selon le nombre de morts (après capping) et les dégâts en log  où :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Total_Deaths_Capped représente le nombre de morts après limitation des valeurs extrêmes.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Damage_Log est une transformation des dégâts économiques pour réduire l’effet des grandes valeurs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195" y="5351452"/>
            <a:ext cx="3634425" cy="987400"/>
            <a:chOff x="0" y="0"/>
            <a:chExt cx="957215" cy="2600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215" cy="260056"/>
            </a:xfrm>
            <a:custGeom>
              <a:avLst/>
              <a:gdLst/>
              <a:ahLst/>
              <a:cxnLst/>
              <a:rect l="l" t="t" r="r" b="b"/>
              <a:pathLst>
                <a:path w="957215" h="260056">
                  <a:moveTo>
                    <a:pt x="42603" y="0"/>
                  </a:moveTo>
                  <a:lnTo>
                    <a:pt x="914612" y="0"/>
                  </a:lnTo>
                  <a:cubicBezTo>
                    <a:pt x="925911" y="0"/>
                    <a:pt x="936747" y="4489"/>
                    <a:pt x="944737" y="12478"/>
                  </a:cubicBezTo>
                  <a:cubicBezTo>
                    <a:pt x="952726" y="20468"/>
                    <a:pt x="957215" y="31304"/>
                    <a:pt x="957215" y="42603"/>
                  </a:cubicBezTo>
                  <a:lnTo>
                    <a:pt x="957215" y="217453"/>
                  </a:lnTo>
                  <a:cubicBezTo>
                    <a:pt x="957215" y="240982"/>
                    <a:pt x="938141" y="260056"/>
                    <a:pt x="914612" y="260056"/>
                  </a:cubicBezTo>
                  <a:lnTo>
                    <a:pt x="42603" y="260056"/>
                  </a:lnTo>
                  <a:cubicBezTo>
                    <a:pt x="31304" y="260056"/>
                    <a:pt x="20468" y="255567"/>
                    <a:pt x="12478" y="247578"/>
                  </a:cubicBezTo>
                  <a:cubicBezTo>
                    <a:pt x="4489" y="239588"/>
                    <a:pt x="0" y="228752"/>
                    <a:pt x="0" y="217453"/>
                  </a:cubicBezTo>
                  <a:lnTo>
                    <a:pt x="0" y="42603"/>
                  </a:lnTo>
                  <a:cubicBezTo>
                    <a:pt x="0" y="19074"/>
                    <a:pt x="19074" y="0"/>
                    <a:pt x="42603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57215" cy="317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Decision Tree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00831" y="5481737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8" y="0"/>
                </a:lnTo>
                <a:lnTo>
                  <a:pt x="688728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flipV="1">
            <a:off x="14875056" y="0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2433784"/>
                </a:moveTo>
                <a:lnTo>
                  <a:pt x="4867569" y="2433784"/>
                </a:lnTo>
                <a:lnTo>
                  <a:pt x="4867569" y="0"/>
                </a:lnTo>
                <a:lnTo>
                  <a:pt x="0" y="0"/>
                </a:lnTo>
                <a:lnTo>
                  <a:pt x="0" y="24337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1272132" y="313480"/>
            <a:ext cx="2768332" cy="883920"/>
          </a:xfrm>
          <a:custGeom>
            <a:avLst/>
            <a:gdLst/>
            <a:ahLst/>
            <a:cxnLst/>
            <a:rect l="l" t="t" r="r" b="b"/>
            <a:pathLst>
              <a:path w="2768332" h="883920">
                <a:moveTo>
                  <a:pt x="0" y="0"/>
                </a:moveTo>
                <a:lnTo>
                  <a:pt x="2768332" y="0"/>
                </a:lnTo>
                <a:lnTo>
                  <a:pt x="2768332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9477476" y="5332402"/>
            <a:ext cx="3589312" cy="987400"/>
            <a:chOff x="0" y="0"/>
            <a:chExt cx="945333" cy="2600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5333" cy="260056"/>
            </a:xfrm>
            <a:custGeom>
              <a:avLst/>
              <a:gdLst/>
              <a:ahLst/>
              <a:cxnLst/>
              <a:rect l="l" t="t" r="r" b="b"/>
              <a:pathLst>
                <a:path w="945333" h="260056">
                  <a:moveTo>
                    <a:pt x="43139" y="0"/>
                  </a:moveTo>
                  <a:lnTo>
                    <a:pt x="902194" y="0"/>
                  </a:lnTo>
                  <a:cubicBezTo>
                    <a:pt x="926019" y="0"/>
                    <a:pt x="945333" y="19314"/>
                    <a:pt x="945333" y="43139"/>
                  </a:cubicBezTo>
                  <a:lnTo>
                    <a:pt x="945333" y="216917"/>
                  </a:lnTo>
                  <a:cubicBezTo>
                    <a:pt x="945333" y="240742"/>
                    <a:pt x="926019" y="260056"/>
                    <a:pt x="902194" y="260056"/>
                  </a:cubicBezTo>
                  <a:lnTo>
                    <a:pt x="43139" y="260056"/>
                  </a:lnTo>
                  <a:cubicBezTo>
                    <a:pt x="19314" y="260056"/>
                    <a:pt x="0" y="240742"/>
                    <a:pt x="0" y="216917"/>
                  </a:cubicBezTo>
                  <a:lnTo>
                    <a:pt x="0" y="43139"/>
                  </a:lnTo>
                  <a:cubicBezTo>
                    <a:pt x="0" y="19314"/>
                    <a:pt x="19314" y="0"/>
                    <a:pt x="43139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45333" cy="317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Random Forest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106311" y="5481737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9" y="0"/>
                </a:lnTo>
                <a:lnTo>
                  <a:pt x="688729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4945027" y="5351452"/>
            <a:ext cx="3837434" cy="987400"/>
            <a:chOff x="0" y="0"/>
            <a:chExt cx="1010682" cy="2600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0682" cy="260056"/>
            </a:xfrm>
            <a:custGeom>
              <a:avLst/>
              <a:gdLst/>
              <a:ahLst/>
              <a:cxnLst/>
              <a:rect l="l" t="t" r="r" b="b"/>
              <a:pathLst>
                <a:path w="1010682" h="260056">
                  <a:moveTo>
                    <a:pt x="40349" y="0"/>
                  </a:moveTo>
                  <a:lnTo>
                    <a:pt x="970333" y="0"/>
                  </a:lnTo>
                  <a:cubicBezTo>
                    <a:pt x="981034" y="0"/>
                    <a:pt x="991297" y="4251"/>
                    <a:pt x="998864" y="11818"/>
                  </a:cubicBezTo>
                  <a:cubicBezTo>
                    <a:pt x="1006431" y="19385"/>
                    <a:pt x="1010682" y="29648"/>
                    <a:pt x="1010682" y="40349"/>
                  </a:cubicBezTo>
                  <a:lnTo>
                    <a:pt x="1010682" y="219707"/>
                  </a:lnTo>
                  <a:cubicBezTo>
                    <a:pt x="1010682" y="230408"/>
                    <a:pt x="1006431" y="240671"/>
                    <a:pt x="998864" y="248238"/>
                  </a:cubicBezTo>
                  <a:cubicBezTo>
                    <a:pt x="991297" y="255805"/>
                    <a:pt x="981034" y="260056"/>
                    <a:pt x="970333" y="260056"/>
                  </a:cubicBezTo>
                  <a:lnTo>
                    <a:pt x="40349" y="260056"/>
                  </a:lnTo>
                  <a:cubicBezTo>
                    <a:pt x="29648" y="260056"/>
                    <a:pt x="19385" y="255805"/>
                    <a:pt x="11818" y="248238"/>
                  </a:cubicBezTo>
                  <a:cubicBezTo>
                    <a:pt x="4251" y="240671"/>
                    <a:pt x="0" y="230408"/>
                    <a:pt x="0" y="219707"/>
                  </a:cubicBezTo>
                  <a:lnTo>
                    <a:pt x="0" y="40349"/>
                  </a:lnTo>
                  <a:cubicBezTo>
                    <a:pt x="0" y="29648"/>
                    <a:pt x="4251" y="19385"/>
                    <a:pt x="11818" y="11818"/>
                  </a:cubicBezTo>
                  <a:cubicBezTo>
                    <a:pt x="19385" y="4251"/>
                    <a:pt x="29648" y="0"/>
                    <a:pt x="40349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10682" cy="317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    Logistic Regression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600663" y="5481737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9" y="0"/>
                </a:lnTo>
                <a:lnTo>
                  <a:pt x="688729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6" name="Group 16"/>
          <p:cNvGrpSpPr/>
          <p:nvPr/>
        </p:nvGrpSpPr>
        <p:grpSpPr>
          <a:xfrm>
            <a:off x="13735002" y="5332402"/>
            <a:ext cx="3972773" cy="987400"/>
            <a:chOff x="0" y="0"/>
            <a:chExt cx="1046327" cy="2600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6327" cy="260056"/>
            </a:xfrm>
            <a:custGeom>
              <a:avLst/>
              <a:gdLst/>
              <a:ahLst/>
              <a:cxnLst/>
              <a:rect l="l" t="t" r="r" b="b"/>
              <a:pathLst>
                <a:path w="1046327" h="260056">
                  <a:moveTo>
                    <a:pt x="38975" y="0"/>
                  </a:moveTo>
                  <a:lnTo>
                    <a:pt x="1007352" y="0"/>
                  </a:lnTo>
                  <a:cubicBezTo>
                    <a:pt x="1028878" y="0"/>
                    <a:pt x="1046327" y="17450"/>
                    <a:pt x="1046327" y="38975"/>
                  </a:cubicBezTo>
                  <a:lnTo>
                    <a:pt x="1046327" y="221081"/>
                  </a:lnTo>
                  <a:cubicBezTo>
                    <a:pt x="1046327" y="242606"/>
                    <a:pt x="1028878" y="260056"/>
                    <a:pt x="1007352" y="260056"/>
                  </a:cubicBezTo>
                  <a:lnTo>
                    <a:pt x="38975" y="260056"/>
                  </a:lnTo>
                  <a:cubicBezTo>
                    <a:pt x="28638" y="260056"/>
                    <a:pt x="18725" y="255950"/>
                    <a:pt x="11415" y="248640"/>
                  </a:cubicBezTo>
                  <a:cubicBezTo>
                    <a:pt x="4106" y="241331"/>
                    <a:pt x="0" y="231418"/>
                    <a:pt x="0" y="221081"/>
                  </a:cubicBezTo>
                  <a:lnTo>
                    <a:pt x="0" y="38975"/>
                  </a:lnTo>
                  <a:cubicBezTo>
                    <a:pt x="0" y="17450"/>
                    <a:pt x="17450" y="0"/>
                    <a:pt x="38975" y="0"/>
                  </a:cubicBez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46327" cy="317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Gradient Boosting 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3390638" y="5462687"/>
            <a:ext cx="688729" cy="688729"/>
          </a:xfrm>
          <a:custGeom>
            <a:avLst/>
            <a:gdLst/>
            <a:ahLst/>
            <a:cxnLst/>
            <a:rect l="l" t="t" r="r" b="b"/>
            <a:pathLst>
              <a:path w="688729" h="688729">
                <a:moveTo>
                  <a:pt x="0" y="0"/>
                </a:moveTo>
                <a:lnTo>
                  <a:pt x="688728" y="0"/>
                </a:lnTo>
                <a:lnTo>
                  <a:pt x="688728" y="688729"/>
                </a:lnTo>
                <a:lnTo>
                  <a:pt x="0" y="688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20"/>
          <p:cNvSpPr/>
          <p:nvPr/>
        </p:nvSpPr>
        <p:spPr>
          <a:xfrm>
            <a:off x="9039636" y="6727263"/>
            <a:ext cx="9078643" cy="3289085"/>
          </a:xfrm>
          <a:custGeom>
            <a:avLst/>
            <a:gdLst/>
            <a:ahLst/>
            <a:cxnLst/>
            <a:rect l="l" t="t" r="r" b="b"/>
            <a:pathLst>
              <a:path w="9078643" h="3289085">
                <a:moveTo>
                  <a:pt x="0" y="0"/>
                </a:moveTo>
                <a:lnTo>
                  <a:pt x="9078643" y="0"/>
                </a:lnTo>
                <a:lnTo>
                  <a:pt x="9078643" y="3289085"/>
                </a:lnTo>
                <a:lnTo>
                  <a:pt x="0" y="32890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434181" y="286239"/>
            <a:ext cx="11027930" cy="174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40"/>
              </a:lnSpc>
              <a:spcBef>
                <a:spcPct val="0"/>
              </a:spcBef>
            </a:pPr>
            <a:r>
              <a:rPr lang="en-US" sz="5699" b="1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IV- Mise en place de la classification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1118" y="2319484"/>
            <a:ext cx="15677019" cy="2066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La classification est une méthode supervisée dont l’objectif est de prédire la variable Severe. </a:t>
            </a:r>
          </a:p>
          <a:p>
            <a:pPr algn="l">
              <a:lnSpc>
                <a:spcPts val="4125"/>
              </a:lnSpc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Dans cette version, nous utilisons plusieurs splits, ce qui signifie que nous répétons l’entraînement et l’évaluation avec différentes valeurs de random_state. </a:t>
            </a:r>
          </a:p>
          <a:p>
            <a:pPr algn="l">
              <a:lnSpc>
                <a:spcPts val="4125"/>
              </a:lnSpc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Cette approche permet d’obtenir une évaluation plus fiable que l’utilisation d’un seul split.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871" y="4729306"/>
            <a:ext cx="2681049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Modèles utilisés: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3499" y="6591300"/>
            <a:ext cx="426152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Méthodologie</a:t>
            </a:r>
            <a:r>
              <a:rPr lang="en-US" sz="2500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utilisée</a:t>
            </a:r>
            <a:r>
              <a:rPr lang="en-US" sz="2500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 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9559" y="7124700"/>
            <a:ext cx="4164092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Sélection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des variables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8007" y="7831950"/>
            <a:ext cx="6320195" cy="218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Nous utilisons les variables suivantes :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Damage_Log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Year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les variables liées au type de catastrophe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875056" y="0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2433784"/>
                </a:moveTo>
                <a:lnTo>
                  <a:pt x="4867569" y="2433784"/>
                </a:lnTo>
                <a:lnTo>
                  <a:pt x="4867569" y="0"/>
                </a:lnTo>
                <a:lnTo>
                  <a:pt x="0" y="0"/>
                </a:lnTo>
                <a:lnTo>
                  <a:pt x="0" y="24337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272132" y="313480"/>
            <a:ext cx="2768332" cy="883920"/>
          </a:xfrm>
          <a:custGeom>
            <a:avLst/>
            <a:gdLst/>
            <a:ahLst/>
            <a:cxnLst/>
            <a:rect l="l" t="t" r="r" b="b"/>
            <a:pathLst>
              <a:path w="2768332" h="883920">
                <a:moveTo>
                  <a:pt x="0" y="0"/>
                </a:moveTo>
                <a:lnTo>
                  <a:pt x="2768332" y="0"/>
                </a:lnTo>
                <a:lnTo>
                  <a:pt x="2768332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6682380" y="2433784"/>
            <a:ext cx="3716174" cy="1153408"/>
          </a:xfrm>
          <a:custGeom>
            <a:avLst/>
            <a:gdLst/>
            <a:ahLst/>
            <a:cxnLst/>
            <a:rect l="l" t="t" r="r" b="b"/>
            <a:pathLst>
              <a:path w="3716174" h="1153408">
                <a:moveTo>
                  <a:pt x="0" y="0"/>
                </a:moveTo>
                <a:lnTo>
                  <a:pt x="3716175" y="0"/>
                </a:lnTo>
                <a:lnTo>
                  <a:pt x="3716175" y="1153408"/>
                </a:lnTo>
                <a:lnTo>
                  <a:pt x="0" y="115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20" t="-17111" r="-163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58703" y="4394235"/>
            <a:ext cx="11163275" cy="3091368"/>
          </a:xfrm>
          <a:custGeom>
            <a:avLst/>
            <a:gdLst/>
            <a:ahLst/>
            <a:cxnLst/>
            <a:rect l="l" t="t" r="r" b="b"/>
            <a:pathLst>
              <a:path w="11163275" h="3091368">
                <a:moveTo>
                  <a:pt x="0" y="0"/>
                </a:moveTo>
                <a:lnTo>
                  <a:pt x="11163274" y="0"/>
                </a:lnTo>
                <a:lnTo>
                  <a:pt x="11163274" y="3091368"/>
                </a:lnTo>
                <a:lnTo>
                  <a:pt x="0" y="3091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3027934" y="-5927687"/>
            <a:ext cx="3086100" cy="10287000"/>
            <a:chOff x="0" y="0"/>
            <a:chExt cx="81280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632932" y="3549092"/>
            <a:ext cx="4937427" cy="6097910"/>
          </a:xfrm>
          <a:custGeom>
            <a:avLst/>
            <a:gdLst/>
            <a:ahLst/>
            <a:cxnLst/>
            <a:rect l="l" t="t" r="r" b="b"/>
            <a:pathLst>
              <a:path w="4937427" h="6097910">
                <a:moveTo>
                  <a:pt x="0" y="0"/>
                </a:moveTo>
                <a:lnTo>
                  <a:pt x="4937428" y="0"/>
                </a:lnTo>
                <a:lnTo>
                  <a:pt x="4937428" y="6097910"/>
                </a:lnTo>
                <a:lnTo>
                  <a:pt x="0" y="6097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1" r="-213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58703" y="1016038"/>
            <a:ext cx="5308997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53" lvl="1" indent="-280677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Utilisation de plusieurs splits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6822" y="1800261"/>
            <a:ext cx="11546563" cy="22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Nous utilisons trois splits différents pour améliorer la robustesse des résultats. : </a:t>
            </a:r>
          </a:p>
          <a:p>
            <a:pPr marL="561353" lvl="1" indent="-280677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Split 1 : random_state = 42</a:t>
            </a:r>
          </a:p>
          <a:p>
            <a:pPr marL="561353" lvl="1" indent="-280677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Split 2 : random_state = 7</a:t>
            </a:r>
          </a:p>
          <a:p>
            <a:pPr marL="561353" lvl="1" indent="-280677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Split 3 : random_state = 99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6244" y="8095203"/>
            <a:ext cx="11742783" cy="140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--&gt; Pour chaque split, les mêmes modèles sont entraînés et évalués. Ensuite, nous calculons la moyenne des résultats pour chaque modèle.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875056" y="0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2433784"/>
                </a:moveTo>
                <a:lnTo>
                  <a:pt x="4867569" y="2433784"/>
                </a:lnTo>
                <a:lnTo>
                  <a:pt x="4867569" y="0"/>
                </a:lnTo>
                <a:lnTo>
                  <a:pt x="0" y="0"/>
                </a:lnTo>
                <a:lnTo>
                  <a:pt x="0" y="24337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-993407" y="9403080"/>
            <a:ext cx="2768332" cy="883920"/>
          </a:xfrm>
          <a:custGeom>
            <a:avLst/>
            <a:gdLst/>
            <a:ahLst/>
            <a:cxnLst/>
            <a:rect l="l" t="t" r="r" b="b"/>
            <a:pathLst>
              <a:path w="2768332" h="883920">
                <a:moveTo>
                  <a:pt x="0" y="0"/>
                </a:moveTo>
                <a:lnTo>
                  <a:pt x="2768332" y="0"/>
                </a:lnTo>
                <a:lnTo>
                  <a:pt x="2768332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15716250" y="4778377"/>
            <a:ext cx="3086100" cy="10287000"/>
            <a:chOff x="0" y="0"/>
            <a:chExt cx="81280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124586" y="3616697"/>
            <a:ext cx="12617775" cy="6508378"/>
          </a:xfrm>
          <a:custGeom>
            <a:avLst/>
            <a:gdLst/>
            <a:ahLst/>
            <a:cxnLst/>
            <a:rect l="l" t="t" r="r" b="b"/>
            <a:pathLst>
              <a:path w="12617775" h="6508378">
                <a:moveTo>
                  <a:pt x="0" y="0"/>
                </a:moveTo>
                <a:lnTo>
                  <a:pt x="12617775" y="0"/>
                </a:lnTo>
                <a:lnTo>
                  <a:pt x="12617775" y="6508378"/>
                </a:lnTo>
                <a:lnTo>
                  <a:pt x="0" y="6508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571500" y="1435967"/>
            <a:ext cx="6310475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Évaluation avec plusieurs splits: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5694" y="2172780"/>
            <a:ext cx="10284305" cy="1308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Comparaison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performances sur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plusieurs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splits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Utilisation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métriques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 Accuracy, Precision, Recall et F1-score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Sélection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meilleur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modèle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basée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sur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moyenne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F1-score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759" y="180572"/>
            <a:ext cx="10403880" cy="915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V- </a:t>
            </a:r>
            <a:r>
              <a:rPr lang="en-US" sz="5600" b="1" dirty="0" err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Évaluation</a:t>
            </a:r>
            <a:r>
              <a:rPr lang="en-US" sz="5600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des </a:t>
            </a:r>
            <a:r>
              <a:rPr lang="en-US" sz="5600" b="1" dirty="0" err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modèles</a:t>
            </a:r>
            <a:endParaRPr lang="en-US" sz="5600" b="1" dirty="0">
              <a:solidFill>
                <a:srgbClr val="000000"/>
              </a:solidFill>
              <a:latin typeface="Aileron Heavy"/>
              <a:ea typeface="Aileron Heavy"/>
              <a:cs typeface="Aileron Heavy"/>
              <a:sym typeface="Aileron Heav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875056" y="0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2433784"/>
                </a:moveTo>
                <a:lnTo>
                  <a:pt x="4867569" y="2433784"/>
                </a:lnTo>
                <a:lnTo>
                  <a:pt x="4867569" y="0"/>
                </a:lnTo>
                <a:lnTo>
                  <a:pt x="0" y="0"/>
                </a:lnTo>
                <a:lnTo>
                  <a:pt x="0" y="24337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272132" y="313480"/>
            <a:ext cx="2768332" cy="883920"/>
          </a:xfrm>
          <a:custGeom>
            <a:avLst/>
            <a:gdLst/>
            <a:ahLst/>
            <a:cxnLst/>
            <a:rect l="l" t="t" r="r" b="b"/>
            <a:pathLst>
              <a:path w="2768332" h="883920">
                <a:moveTo>
                  <a:pt x="0" y="0"/>
                </a:moveTo>
                <a:lnTo>
                  <a:pt x="2768332" y="0"/>
                </a:lnTo>
                <a:lnTo>
                  <a:pt x="2768332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33350" y="1061972"/>
            <a:ext cx="6378145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Moyenne des performances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995" y="1751160"/>
            <a:ext cx="9648944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Comparaison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performances sur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plusieurs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splits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Utilisation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métriques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 Accuracy, Precision, Recall et F1-score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Sélection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meilleur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modèle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basée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sur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moyenne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F1-score</a:t>
            </a:r>
          </a:p>
          <a:p>
            <a:pPr marL="539764" lvl="1" indent="-269882" algn="l">
              <a:lnSpc>
                <a:spcPts val="3500"/>
              </a:lnSpc>
              <a:buFont typeface="Arial"/>
              <a:buChar char="•"/>
            </a:pP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3854" y="3496343"/>
            <a:ext cx="11257598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Dans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cette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étape on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va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</a:t>
            </a:r>
          </a:p>
          <a:p>
            <a:pPr marL="539764" lvl="1" indent="-269882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Calculer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moyenne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l’écart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-type des performances pour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chaque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modèle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4334" y="4787902"/>
            <a:ext cx="1442226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--&gt; Le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meilleur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modèle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est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sélectionné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en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fonction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 la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moyenne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du F1-score   </a:t>
            </a:r>
          </a:p>
        </p:txBody>
      </p:sp>
      <p:grpSp>
        <p:nvGrpSpPr>
          <p:cNvPr id="9" name="Group 9"/>
          <p:cNvGrpSpPr/>
          <p:nvPr/>
        </p:nvGrpSpPr>
        <p:grpSpPr>
          <a:xfrm rot="5400000">
            <a:off x="12497414" y="5657850"/>
            <a:ext cx="3086100" cy="10287000"/>
            <a:chOff x="0" y="0"/>
            <a:chExt cx="812800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429E9CFF-0733-598A-D41D-871BB7ABD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95" y="5635451"/>
            <a:ext cx="16875605" cy="3547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68900" y="-257043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1556762" y="2763585"/>
            <a:ext cx="3145523" cy="1004356"/>
          </a:xfrm>
          <a:custGeom>
            <a:avLst/>
            <a:gdLst/>
            <a:ahLst/>
            <a:cxnLst/>
            <a:rect l="l" t="t" r="r" b="b"/>
            <a:pathLst>
              <a:path w="3145523" h="1004356">
                <a:moveTo>
                  <a:pt x="0" y="0"/>
                </a:moveTo>
                <a:lnTo>
                  <a:pt x="3145523" y="0"/>
                </a:lnTo>
                <a:lnTo>
                  <a:pt x="3145523" y="1004356"/>
                </a:lnTo>
                <a:lnTo>
                  <a:pt x="0" y="100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flipV="1">
            <a:off x="14564757" y="-879705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2220342"/>
                </a:moveTo>
                <a:lnTo>
                  <a:pt x="4440685" y="2220342"/>
                </a:lnTo>
                <a:lnTo>
                  <a:pt x="4440685" y="0"/>
                </a:lnTo>
                <a:lnTo>
                  <a:pt x="0" y="0"/>
                </a:lnTo>
                <a:lnTo>
                  <a:pt x="0" y="2220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-290454" y="-257043"/>
            <a:ext cx="946213" cy="10738378"/>
            <a:chOff x="0" y="0"/>
            <a:chExt cx="146593" cy="16636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593" cy="1663656"/>
            </a:xfrm>
            <a:custGeom>
              <a:avLst/>
              <a:gdLst/>
              <a:ahLst/>
              <a:cxnLst/>
              <a:rect l="l" t="t" r="r" b="b"/>
              <a:pathLst>
                <a:path w="146593" h="1663656">
                  <a:moveTo>
                    <a:pt x="73297" y="0"/>
                  </a:moveTo>
                  <a:lnTo>
                    <a:pt x="73297" y="0"/>
                  </a:lnTo>
                  <a:cubicBezTo>
                    <a:pt x="113777" y="0"/>
                    <a:pt x="146593" y="32816"/>
                    <a:pt x="146593" y="73297"/>
                  </a:cubicBezTo>
                  <a:lnTo>
                    <a:pt x="146593" y="1590359"/>
                  </a:lnTo>
                  <a:cubicBezTo>
                    <a:pt x="146593" y="1630840"/>
                    <a:pt x="113777" y="1663656"/>
                    <a:pt x="73297" y="1663656"/>
                  </a:cubicBezTo>
                  <a:lnTo>
                    <a:pt x="73297" y="1663656"/>
                  </a:lnTo>
                  <a:cubicBezTo>
                    <a:pt x="32816" y="1663656"/>
                    <a:pt x="0" y="1630840"/>
                    <a:pt x="0" y="1590359"/>
                  </a:cubicBezTo>
                  <a:lnTo>
                    <a:pt x="0" y="73297"/>
                  </a:lnTo>
                  <a:cubicBezTo>
                    <a:pt x="0" y="32816"/>
                    <a:pt x="32816" y="0"/>
                    <a:pt x="73297" y="0"/>
                  </a:cubicBezTo>
                  <a:close/>
                </a:path>
              </a:pathLst>
            </a:custGeom>
            <a:blipFill>
              <a:blip r:embed="rId4"/>
              <a:stretch>
                <a:fillRect l="-801692" r="-80169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71197" y="785496"/>
            <a:ext cx="5732979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43" lvl="1" indent="-291471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Sélection du meilleur modèle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628327"/>
            <a:ext cx="14401800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 Le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meilleur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modèle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est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celui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qui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obtient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meilleure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moyenne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F1-score de validation sur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l’ensemble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des splits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8225" y="6518343"/>
            <a:ext cx="8826249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⟶   Le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modèle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Logistic Regression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présente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le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meilleur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équilibre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global entre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précision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et rappel.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8225" y="7839254"/>
            <a:ext cx="8719271" cy="1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⟶   Le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modèle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favorise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le rappel,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ce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qui est important dans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notre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cas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car il est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préférable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détecter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un maximum de catastrophes </a:t>
            </a:r>
            <a:r>
              <a:rPr lang="en-US" sz="25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sévères</a:t>
            </a:r>
            <a:r>
              <a:rPr lang="en-US" sz="25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04273A6-2D87-46AF-D8E7-0FCFB5239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474" y="5143501"/>
            <a:ext cx="7861905" cy="488645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D38FCFC-E081-0EAD-D702-E7BB44EB3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80" y="2802251"/>
            <a:ext cx="8988545" cy="28746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2442" y="2499173"/>
            <a:ext cx="9396858" cy="7349948"/>
          </a:xfrm>
          <a:custGeom>
            <a:avLst/>
            <a:gdLst/>
            <a:ahLst/>
            <a:cxnLst/>
            <a:rect l="l" t="t" r="r" b="b"/>
            <a:pathLst>
              <a:path w="9396858" h="7349948">
                <a:moveTo>
                  <a:pt x="0" y="0"/>
                </a:moveTo>
                <a:lnTo>
                  <a:pt x="9396858" y="0"/>
                </a:lnTo>
                <a:lnTo>
                  <a:pt x="9396858" y="7349948"/>
                </a:lnTo>
                <a:lnTo>
                  <a:pt x="0" y="734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7" t="-2404" r="-965" b="-164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849595" y="596902"/>
            <a:ext cx="8142005" cy="422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53" lvl="1" indent="-280677" algn="l">
              <a:lnSpc>
                <a:spcPts val="3640"/>
              </a:lnSpc>
              <a:buFont typeface="Arial"/>
              <a:buChar char="•"/>
            </a:pPr>
            <a:r>
              <a:rPr lang="en-US" sz="26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Visualisation</a:t>
            </a:r>
            <a:r>
              <a:rPr lang="en-US" sz="26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 la </a:t>
            </a:r>
            <a:r>
              <a:rPr lang="en-US" sz="2600" b="1" dirty="0" err="1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matrice</a:t>
            </a:r>
            <a:r>
              <a:rPr lang="en-US" sz="2600" b="1" dirty="0">
                <a:solidFill>
                  <a:srgbClr val="066150"/>
                </a:solidFill>
                <a:latin typeface="Aileron Heavy"/>
                <a:ea typeface="Aileron Heavy"/>
                <a:cs typeface="Aileron Heavy"/>
                <a:sym typeface="Aileron Heavy"/>
              </a:rPr>
              <a:t> de confusion 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9595" y="1431809"/>
            <a:ext cx="15068074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La matrice de confusion permet d’analyser les bonnes prédictions ainsi que les erreurs du meilleur modèle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3009900"/>
            <a:ext cx="6673369" cy="396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Elle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permet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:</a:t>
            </a: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Voir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combien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prédictions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sont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correctes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:</a:t>
            </a: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962 : non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correctement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prédit</a:t>
            </a: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232 :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correctement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prédit</a:t>
            </a: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⟶  Identifier les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erreurs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du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modèle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:</a:t>
            </a: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440 : non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prédit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à tort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comme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endParaRPr lang="en-US" sz="2500" dirty="0">
              <a:solidFill>
                <a:srgbClr val="06615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4500"/>
              </a:lnSpc>
            </a:pP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78 :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prédit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à tort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comme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non </a:t>
            </a:r>
            <a:r>
              <a:rPr lang="en-US" sz="2500" dirty="0" err="1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sévère</a:t>
            </a:r>
            <a:r>
              <a:rPr lang="en-US" sz="2500" dirty="0">
                <a:solidFill>
                  <a:srgbClr val="06615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62024"/>
            <a:ext cx="3942193" cy="9520324"/>
            <a:chOff x="0" y="0"/>
            <a:chExt cx="610749" cy="1474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749" cy="1474947"/>
            </a:xfrm>
            <a:custGeom>
              <a:avLst/>
              <a:gdLst/>
              <a:ahLst/>
              <a:cxnLst/>
              <a:rect l="l" t="t" r="r" b="b"/>
              <a:pathLst>
                <a:path w="610749" h="1474947">
                  <a:moveTo>
                    <a:pt x="45169" y="0"/>
                  </a:moveTo>
                  <a:lnTo>
                    <a:pt x="565580" y="0"/>
                  </a:lnTo>
                  <a:cubicBezTo>
                    <a:pt x="577560" y="0"/>
                    <a:pt x="589048" y="4759"/>
                    <a:pt x="597519" y="13230"/>
                  </a:cubicBezTo>
                  <a:cubicBezTo>
                    <a:pt x="605990" y="21700"/>
                    <a:pt x="610749" y="33189"/>
                    <a:pt x="610749" y="45169"/>
                  </a:cubicBezTo>
                  <a:lnTo>
                    <a:pt x="610749" y="1429779"/>
                  </a:lnTo>
                  <a:cubicBezTo>
                    <a:pt x="610749" y="1441758"/>
                    <a:pt x="605990" y="1453247"/>
                    <a:pt x="597519" y="1461718"/>
                  </a:cubicBezTo>
                  <a:cubicBezTo>
                    <a:pt x="589048" y="1470189"/>
                    <a:pt x="577560" y="1474947"/>
                    <a:pt x="565580" y="1474947"/>
                  </a:cubicBezTo>
                  <a:lnTo>
                    <a:pt x="45169" y="1474947"/>
                  </a:lnTo>
                  <a:cubicBezTo>
                    <a:pt x="33189" y="1474947"/>
                    <a:pt x="21700" y="1470189"/>
                    <a:pt x="13230" y="1461718"/>
                  </a:cubicBezTo>
                  <a:cubicBezTo>
                    <a:pt x="4759" y="1453247"/>
                    <a:pt x="0" y="1441758"/>
                    <a:pt x="0" y="1429779"/>
                  </a:cubicBezTo>
                  <a:lnTo>
                    <a:pt x="0" y="45169"/>
                  </a:lnTo>
                  <a:cubicBezTo>
                    <a:pt x="0" y="33189"/>
                    <a:pt x="4759" y="21700"/>
                    <a:pt x="13230" y="13230"/>
                  </a:cubicBezTo>
                  <a:cubicBezTo>
                    <a:pt x="21700" y="4759"/>
                    <a:pt x="33189" y="0"/>
                    <a:pt x="45169" y="0"/>
                  </a:cubicBezTo>
                  <a:close/>
                </a:path>
              </a:pathLst>
            </a:custGeom>
            <a:blipFill>
              <a:blip r:embed="rId2"/>
              <a:stretch>
                <a:fillRect l="-131236" r="-13123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148113" y="0"/>
            <a:ext cx="3086100" cy="10287000"/>
            <a:chOff x="0" y="0"/>
            <a:chExt cx="81280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5112770" y="607993"/>
            <a:ext cx="3145523" cy="1004356"/>
          </a:xfrm>
          <a:custGeom>
            <a:avLst/>
            <a:gdLst/>
            <a:ahLst/>
            <a:cxnLst/>
            <a:rect l="l" t="t" r="r" b="b"/>
            <a:pathLst>
              <a:path w="3145523" h="1004356">
                <a:moveTo>
                  <a:pt x="0" y="0"/>
                </a:moveTo>
                <a:lnTo>
                  <a:pt x="3145523" y="0"/>
                </a:lnTo>
                <a:lnTo>
                  <a:pt x="3145523" y="1004356"/>
                </a:lnTo>
                <a:lnTo>
                  <a:pt x="0" y="100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 flipV="1">
            <a:off x="10661313" y="0"/>
            <a:ext cx="4440685" cy="2220342"/>
          </a:xfrm>
          <a:custGeom>
            <a:avLst/>
            <a:gdLst/>
            <a:ahLst/>
            <a:cxnLst/>
            <a:rect l="l" t="t" r="r" b="b"/>
            <a:pathLst>
              <a:path w="4440685" h="2220342">
                <a:moveTo>
                  <a:pt x="0" y="2220342"/>
                </a:moveTo>
                <a:lnTo>
                  <a:pt x="4440685" y="2220342"/>
                </a:lnTo>
                <a:lnTo>
                  <a:pt x="4440685" y="0"/>
                </a:lnTo>
                <a:lnTo>
                  <a:pt x="0" y="0"/>
                </a:lnTo>
                <a:lnTo>
                  <a:pt x="0" y="2220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5699931" y="4129371"/>
            <a:ext cx="9402067" cy="3265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92"/>
              </a:lnSpc>
              <a:spcBef>
                <a:spcPct val="0"/>
              </a:spcBef>
            </a:pPr>
            <a:r>
              <a:rPr lang="en-US" sz="2400" b="1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sz="2400" b="1" u="none" strike="noStrike">
                <a:solidFill>
                  <a:srgbClr val="2B645A"/>
                </a:solidFill>
                <a:latin typeface="Aileron Bold"/>
                <a:ea typeface="Aileron Bold"/>
                <a:cs typeface="Aileron Bold"/>
                <a:sym typeface="Aileron Bold"/>
              </a:rPr>
              <a:t>e projet nous a permis d’appliquer les techniques de Data Mining à l’analyse des catastrophes naturelles, en utilisant K-Means et des modèles de classification pour évaluer leur gravité. À l’avenir, l’intégration de données supplémentaires et de modèles plus avancés pourrait améliorer l’analyse des risques et contribuer à une meilleure prévention.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42949" y="2514506"/>
            <a:ext cx="6030687" cy="1263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0C3635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Conclusion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6513" y="1128463"/>
            <a:ext cx="7103822" cy="238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63"/>
              </a:lnSpc>
            </a:pPr>
            <a:r>
              <a:rPr lang="en-US" sz="13967" b="1">
                <a:solidFill>
                  <a:srgbClr val="0C3635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MERCI 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6325383"/>
            <a:ext cx="18288000" cy="3961617"/>
            <a:chOff x="0" y="0"/>
            <a:chExt cx="2833290" cy="613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3290" cy="613758"/>
            </a:xfrm>
            <a:custGeom>
              <a:avLst/>
              <a:gdLst/>
              <a:ahLst/>
              <a:cxnLst/>
              <a:rect l="l" t="t" r="r" b="b"/>
              <a:pathLst>
                <a:path w="2833290" h="613758">
                  <a:moveTo>
                    <a:pt x="0" y="0"/>
                  </a:moveTo>
                  <a:lnTo>
                    <a:pt x="2833290" y="0"/>
                  </a:lnTo>
                  <a:lnTo>
                    <a:pt x="2833290" y="613758"/>
                  </a:lnTo>
                  <a:lnTo>
                    <a:pt x="0" y="613758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9298" t="-184002" b="-52158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61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44277" y="551398"/>
            <a:ext cx="1288827" cy="1288827"/>
          </a:xfrm>
          <a:custGeom>
            <a:avLst/>
            <a:gdLst/>
            <a:ahLst/>
            <a:cxnLst/>
            <a:rect l="l" t="t" r="r" b="b"/>
            <a:pathLst>
              <a:path w="1288827" h="1288827">
                <a:moveTo>
                  <a:pt x="0" y="0"/>
                </a:moveTo>
                <a:lnTo>
                  <a:pt x="1288827" y="0"/>
                </a:lnTo>
                <a:lnTo>
                  <a:pt x="1288827" y="1288827"/>
                </a:lnTo>
                <a:lnTo>
                  <a:pt x="0" y="1288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 rot="-5400000">
            <a:off x="64540" y="7323606"/>
            <a:ext cx="2932917" cy="936471"/>
          </a:xfrm>
          <a:custGeom>
            <a:avLst/>
            <a:gdLst/>
            <a:ahLst/>
            <a:cxnLst/>
            <a:rect l="l" t="t" r="r" b="b"/>
            <a:pathLst>
              <a:path w="2932917" h="936471">
                <a:moveTo>
                  <a:pt x="0" y="0"/>
                </a:moveTo>
                <a:lnTo>
                  <a:pt x="2932917" y="0"/>
                </a:lnTo>
                <a:lnTo>
                  <a:pt x="2932917" y="936471"/>
                </a:lnTo>
                <a:lnTo>
                  <a:pt x="0" y="936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9708901" y="3872549"/>
            <a:ext cx="4867569" cy="2433784"/>
          </a:xfrm>
          <a:custGeom>
            <a:avLst/>
            <a:gdLst/>
            <a:ahLst/>
            <a:cxnLst/>
            <a:rect l="l" t="t" r="r" b="b"/>
            <a:pathLst>
              <a:path w="4867569" h="2433784">
                <a:moveTo>
                  <a:pt x="0" y="0"/>
                </a:moveTo>
                <a:lnTo>
                  <a:pt x="4867569" y="0"/>
                </a:lnTo>
                <a:lnTo>
                  <a:pt x="4867569" y="2433784"/>
                </a:lnTo>
                <a:lnTo>
                  <a:pt x="0" y="2433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1" name="Group 11"/>
          <p:cNvGrpSpPr/>
          <p:nvPr/>
        </p:nvGrpSpPr>
        <p:grpSpPr>
          <a:xfrm>
            <a:off x="9708901" y="7434732"/>
            <a:ext cx="7550399" cy="1286071"/>
            <a:chOff x="0" y="0"/>
            <a:chExt cx="1988583" cy="3387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8582" cy="338718"/>
            </a:xfrm>
            <a:custGeom>
              <a:avLst/>
              <a:gdLst/>
              <a:ahLst/>
              <a:cxnLst/>
              <a:rect l="l" t="t" r="r" b="b"/>
              <a:pathLst>
                <a:path w="1988582" h="338718">
                  <a:moveTo>
                    <a:pt x="20507" y="0"/>
                  </a:moveTo>
                  <a:lnTo>
                    <a:pt x="1968075" y="0"/>
                  </a:lnTo>
                  <a:cubicBezTo>
                    <a:pt x="1973514" y="0"/>
                    <a:pt x="1978730" y="2161"/>
                    <a:pt x="1982576" y="6006"/>
                  </a:cubicBezTo>
                  <a:cubicBezTo>
                    <a:pt x="1986422" y="9852"/>
                    <a:pt x="1988582" y="15068"/>
                    <a:pt x="1988582" y="20507"/>
                  </a:cubicBezTo>
                  <a:lnTo>
                    <a:pt x="1988582" y="318211"/>
                  </a:lnTo>
                  <a:cubicBezTo>
                    <a:pt x="1988582" y="329537"/>
                    <a:pt x="1979401" y="338718"/>
                    <a:pt x="1968075" y="338718"/>
                  </a:cubicBezTo>
                  <a:lnTo>
                    <a:pt x="20507" y="338718"/>
                  </a:lnTo>
                  <a:cubicBezTo>
                    <a:pt x="9181" y="338718"/>
                    <a:pt x="0" y="329537"/>
                    <a:pt x="0" y="318211"/>
                  </a:cubicBezTo>
                  <a:lnTo>
                    <a:pt x="0" y="20507"/>
                  </a:lnTo>
                  <a:cubicBezTo>
                    <a:pt x="0" y="9181"/>
                    <a:pt x="9181" y="0"/>
                    <a:pt x="20507" y="0"/>
                  </a:cubicBezTo>
                  <a:close/>
                </a:path>
              </a:pathLst>
            </a:custGeom>
            <a:solidFill>
              <a:srgbClr val="F5FFF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88583" cy="395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30276" y="7782318"/>
            <a:ext cx="7707649" cy="5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66150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We hope this presentation was insightful</a:t>
            </a:r>
          </a:p>
        </p:txBody>
      </p:sp>
      <p:sp>
        <p:nvSpPr>
          <p:cNvPr id="15" name="Freeform 15"/>
          <p:cNvSpPr/>
          <p:nvPr/>
        </p:nvSpPr>
        <p:spPr>
          <a:xfrm rot="-10800000">
            <a:off x="15211894" y="3872549"/>
            <a:ext cx="2047406" cy="653730"/>
          </a:xfrm>
          <a:custGeom>
            <a:avLst/>
            <a:gdLst/>
            <a:ahLst/>
            <a:cxnLst/>
            <a:rect l="l" t="t" r="r" b="b"/>
            <a:pathLst>
              <a:path w="2047406" h="653730">
                <a:moveTo>
                  <a:pt x="0" y="0"/>
                </a:moveTo>
                <a:lnTo>
                  <a:pt x="2047406" y="0"/>
                </a:lnTo>
                <a:lnTo>
                  <a:pt x="2047406" y="653730"/>
                </a:lnTo>
                <a:lnTo>
                  <a:pt x="0" y="653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1323</Words>
  <Application>Microsoft Office PowerPoint</Application>
  <PresentationFormat>Personnalisé</PresentationFormat>
  <Paragraphs>135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Aileron Heavy</vt:lpstr>
      <vt:lpstr>Calibri</vt:lpstr>
      <vt:lpstr>Aileron Bold</vt:lpstr>
      <vt:lpstr>Arial</vt:lpstr>
      <vt:lpstr>Akzidenz-Grotesk Heavy</vt:lpstr>
      <vt:lpstr>Agrandir Tight Heavy</vt:lpstr>
      <vt:lpstr>Aileron</vt:lpstr>
      <vt:lpstr>Aileron Ultra-Bold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ural</dc:title>
  <cp:lastModifiedBy>askrisarra</cp:lastModifiedBy>
  <cp:revision>17</cp:revision>
  <dcterms:created xsi:type="dcterms:W3CDTF">2006-08-16T00:00:00Z</dcterms:created>
  <dcterms:modified xsi:type="dcterms:W3CDTF">2026-10-19T21:14:15Z</dcterms:modified>
  <dc:identifier>DAHHg9agUU4</dc:identifier>
</cp:coreProperties>
</file>